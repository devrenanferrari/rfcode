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3" name="Forma 3"/>
          <p:cNvSpPr/>
          <p:nvPr/>
        </p:nvSpPr>
        <p:spPr>
          <a:xfrm>
            <a:off x="685800" y="2148840"/>
            <a:ext cx="109728" cy="210312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Texto 4"/>
          <p:cNvSpPr txBox="1"/>
          <p:nvPr/>
        </p:nvSpPr>
        <p:spPr>
          <a:xfrm>
            <a:off x="1097280" y="1463040"/>
            <a:ext cx="10408920" cy="18288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pt-BR" sz="5400" b="1" dirty="0">
                <a:solidFill>
                  <a:srgbClr val="F5F7FA"/>
                </a:solidFill>
              </a:rPr>
              <a:t>rfcode: seu agente de IA, de graça</a:t>
            </a:r>
            <a:endParaRPr lang="pt-BR" sz="5400" dirty="0"/>
          </a:p>
        </p:txBody>
      </p:sp>
      <p:sp>
        <p:nvSpPr>
          <p:cNvPr id="5" name="Texto 5"/>
          <p:cNvSpPr txBox="1"/>
          <p:nvPr/>
        </p:nvSpPr>
        <p:spPr>
          <a:xfrm>
            <a:off x="1097280" y="3429000"/>
            <a:ext cx="10408920" cy="10972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200" dirty="0">
                <a:solidFill>
                  <a:srgbClr val="9AA3AF"/>
                </a:solidFill>
              </a:rPr>
              <a:t>Agente de IA gratuito para VS Code e terminal — programa, automatiza o PC, gera documentos e vídeos, tudo com aprovação do usuário</a:t>
            </a:r>
            <a:endParaRPr lang="pt-BR" sz="2200" dirty="0"/>
          </a:p>
        </p:txBody>
      </p:sp>
      <p:sp>
        <p:nvSpPr>
          <p:cNvPr id="6" name="Texto 6"/>
          <p:cNvSpPr txBox="1"/>
          <p:nvPr/>
        </p:nvSpPr>
        <p:spPr>
          <a:xfrm>
            <a:off x="1097280" y="5715000"/>
            <a:ext cx="104089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dirty="0">
                <a:solidFill>
                  <a:srgbClr val="9AA3AF"/>
                </a:solidFill>
              </a:rPr>
              <a:t>Renan Ferrari  ·  Outubro de 2026</a:t>
            </a:r>
            <a:endParaRPr lang="pt-B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/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Texto 4"/>
          <p:cNvSpPr txBox="1"/>
          <p:nvPr/>
        </p:nvSpPr>
        <p:spPr>
          <a:xfrm>
            <a:off x="68580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800" b="1" dirty="0">
                <a:solidFill>
                  <a:srgbClr val="9AA3AF"/>
                </a:solidFill>
              </a:rPr>
              <a:t>01</a:t>
            </a:r>
            <a:endParaRPr lang="pt-BR" sz="2800" dirty="0"/>
          </a:p>
        </p:txBody>
      </p:sp>
      <p:sp>
        <p:nvSpPr>
          <p:cNvPr id="5" name="Texto 5"/>
          <p:cNvSpPr txBox="1"/>
          <p:nvPr/>
        </p:nvSpPr>
        <p:spPr>
          <a:xfrm>
            <a:off x="1645920" y="1828800"/>
            <a:ext cx="4221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F5F7FA"/>
                </a:solidFill>
              </a:rPr>
              <a:t>Visão e proposta de valor</a:t>
            </a:r>
            <a:endParaRPr lang="pt-BR" sz="20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dirty="0">
                <a:solidFill>
                  <a:srgbClr val="9AA3AF"/>
                </a:solidFill>
              </a:rPr>
              <a:t>O que é e por que existe</a:t>
            </a:r>
            <a:endParaRPr lang="pt-BR" sz="1300" dirty="0"/>
          </a:p>
        </p:txBody>
      </p:sp>
      <p:cxnSp>
        <p:nvCxnSpPr>
          <p:cNvPr id="6" name="Linha 6"/>
          <p:cNvCxnSpPr/>
          <p:nvPr/>
        </p:nvCxnSpPr>
        <p:spPr>
          <a:xfrm>
            <a:off x="1645920" y="2743200"/>
            <a:ext cx="4221480" cy="0"/>
          </a:xfrm>
          <a:prstGeom prst="line">
            <a:avLst/>
          </a:prstGeom>
          <a:ln w="9525">
            <a:solidFill>
              <a:srgbClr val="1B1F27"/>
            </a:solidFill>
          </a:ln>
        </p:spPr>
      </p:cxnSp>
      <p:sp>
        <p:nvSpPr>
          <p:cNvPr id="7" name="Texto 7"/>
          <p:cNvSpPr txBox="1"/>
          <p:nvPr/>
        </p:nvSpPr>
        <p:spPr>
          <a:xfrm>
            <a:off x="685800" y="27432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800" b="1" dirty="0">
                <a:solidFill>
                  <a:srgbClr val="9AA3AF"/>
                </a:solidFill>
              </a:rPr>
              <a:t>02</a:t>
            </a:r>
            <a:endParaRPr lang="pt-BR" sz="2800" dirty="0"/>
          </a:p>
        </p:txBody>
      </p:sp>
      <p:sp>
        <p:nvSpPr>
          <p:cNvPr id="8" name="Texto 8"/>
          <p:cNvSpPr txBox="1"/>
          <p:nvPr/>
        </p:nvSpPr>
        <p:spPr>
          <a:xfrm>
            <a:off x="1645920" y="2743200"/>
            <a:ext cx="4221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F5F7FA"/>
                </a:solidFill>
              </a:rPr>
              <a:t>Arquitetura</a:t>
            </a:r>
            <a:endParaRPr lang="pt-BR" sz="20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dirty="0">
                <a:solidFill>
                  <a:srgbClr val="9AA3AF"/>
                </a:solidFill>
              </a:rPr>
              <a:t>Um núcleo, várias interfaces</a:t>
            </a:r>
            <a:endParaRPr lang="pt-BR" sz="1300" dirty="0"/>
          </a:p>
        </p:txBody>
      </p:sp>
      <p:cxnSp>
        <p:nvCxnSpPr>
          <p:cNvPr id="9" name="Linha 9"/>
          <p:cNvCxnSpPr/>
          <p:nvPr/>
        </p:nvCxnSpPr>
        <p:spPr>
          <a:xfrm>
            <a:off x="1645920" y="3657600"/>
            <a:ext cx="4221480" cy="0"/>
          </a:xfrm>
          <a:prstGeom prst="line">
            <a:avLst/>
          </a:prstGeom>
          <a:ln w="9525">
            <a:solidFill>
              <a:srgbClr val="1B1F27"/>
            </a:solidFill>
          </a:ln>
        </p:spPr>
      </p:cxnSp>
      <p:sp>
        <p:nvSpPr>
          <p:cNvPr id="10" name="Texto 10"/>
          <p:cNvSpPr txBox="1"/>
          <p:nvPr/>
        </p:nvSpPr>
        <p:spPr>
          <a:xfrm>
            <a:off x="685800" y="36576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800" b="1" dirty="0">
                <a:solidFill>
                  <a:srgbClr val="9AA3AF"/>
                </a:solidFill>
              </a:rPr>
              <a:t>03</a:t>
            </a:r>
            <a:endParaRPr lang="pt-BR" sz="2800" dirty="0"/>
          </a:p>
        </p:txBody>
      </p:sp>
      <p:sp>
        <p:nvSpPr>
          <p:cNvPr id="11" name="Texto 11"/>
          <p:cNvSpPr txBox="1"/>
          <p:nvPr/>
        </p:nvSpPr>
        <p:spPr>
          <a:xfrm>
            <a:off x="1645920" y="3657600"/>
            <a:ext cx="4221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F5F7FA"/>
                </a:solidFill>
              </a:rPr>
              <a:t>Capacidades</a:t>
            </a:r>
            <a:endParaRPr lang="pt-BR" sz="20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dirty="0">
                <a:solidFill>
                  <a:srgbClr val="9AA3AF"/>
                </a:solidFill>
              </a:rPr>
              <a:t>Código, git, dados, documentos, vídeo, PC</a:t>
            </a:r>
            <a:endParaRPr lang="pt-BR" sz="1300" dirty="0"/>
          </a:p>
        </p:txBody>
      </p:sp>
      <p:cxnSp>
        <p:nvCxnSpPr>
          <p:cNvPr id="12" name="Linha 12"/>
          <p:cNvCxnSpPr/>
          <p:nvPr/>
        </p:nvCxnSpPr>
        <p:spPr>
          <a:xfrm>
            <a:off x="1645920" y="4572000"/>
            <a:ext cx="4221480" cy="0"/>
          </a:xfrm>
          <a:prstGeom prst="line">
            <a:avLst/>
          </a:prstGeom>
          <a:ln w="9525">
            <a:solidFill>
              <a:srgbClr val="1B1F27"/>
            </a:solidFill>
          </a:ln>
        </p:spPr>
      </p:cxnSp>
      <p:sp>
        <p:nvSpPr>
          <p:cNvPr id="13" name="Texto 13"/>
          <p:cNvSpPr txBox="1"/>
          <p:nvPr/>
        </p:nvSpPr>
        <p:spPr>
          <a:xfrm>
            <a:off x="685800" y="45720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800" b="1" dirty="0">
                <a:solidFill>
                  <a:srgbClr val="9AA3AF"/>
                </a:solidFill>
              </a:rPr>
              <a:t>04</a:t>
            </a:r>
            <a:endParaRPr lang="pt-BR" sz="2800" dirty="0"/>
          </a:p>
        </p:txBody>
      </p:sp>
      <p:sp>
        <p:nvSpPr>
          <p:cNvPr id="14" name="Texto 14"/>
          <p:cNvSpPr txBox="1"/>
          <p:nvPr/>
        </p:nvSpPr>
        <p:spPr>
          <a:xfrm>
            <a:off x="1645920" y="4572000"/>
            <a:ext cx="4221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F5F7FA"/>
                </a:solidFill>
              </a:rPr>
              <a:t>Modelos e custo</a:t>
            </a:r>
            <a:endParaRPr lang="pt-BR" sz="20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dirty="0">
                <a:solidFill>
                  <a:srgbClr val="9AA3AF"/>
                </a:solidFill>
              </a:rPr>
              <a:t>Modelos gratuitos da NVIDIA e 16 provedores</a:t>
            </a:r>
            <a:endParaRPr lang="pt-BR" sz="1300" dirty="0"/>
          </a:p>
        </p:txBody>
      </p:sp>
      <p:sp>
        <p:nvSpPr>
          <p:cNvPr id="15" name="Texto 15"/>
          <p:cNvSpPr txBox="1"/>
          <p:nvPr/>
        </p:nvSpPr>
        <p:spPr>
          <a:xfrm>
            <a:off x="632460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800" b="1" dirty="0">
                <a:solidFill>
                  <a:srgbClr val="9AA3AF"/>
                </a:solidFill>
              </a:rPr>
              <a:t>05</a:t>
            </a:r>
            <a:endParaRPr lang="pt-BR" sz="2800" dirty="0"/>
          </a:p>
        </p:txBody>
      </p:sp>
      <p:sp>
        <p:nvSpPr>
          <p:cNvPr id="16" name="Texto 16"/>
          <p:cNvSpPr txBox="1"/>
          <p:nvPr/>
        </p:nvSpPr>
        <p:spPr>
          <a:xfrm>
            <a:off x="7284720" y="1828800"/>
            <a:ext cx="4221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F5F7FA"/>
                </a:solidFill>
              </a:rPr>
              <a:t>Segurança</a:t>
            </a:r>
            <a:endParaRPr lang="pt-BR" sz="20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dirty="0">
                <a:solidFill>
                  <a:srgbClr val="9AA3AF"/>
                </a:solidFill>
              </a:rPr>
              <a:t>Aprovação, regras e privacidade</a:t>
            </a:r>
            <a:endParaRPr lang="pt-BR" sz="1300" dirty="0"/>
          </a:p>
        </p:txBody>
      </p:sp>
      <p:cxnSp>
        <p:nvCxnSpPr>
          <p:cNvPr id="17" name="Linha 17"/>
          <p:cNvCxnSpPr/>
          <p:nvPr/>
        </p:nvCxnSpPr>
        <p:spPr>
          <a:xfrm>
            <a:off x="7284720" y="2743200"/>
            <a:ext cx="4221480" cy="0"/>
          </a:xfrm>
          <a:prstGeom prst="line">
            <a:avLst/>
          </a:prstGeom>
          <a:ln w="9525">
            <a:solidFill>
              <a:srgbClr val="1B1F27"/>
            </a:solidFill>
          </a:ln>
        </p:spPr>
      </p:cxnSp>
      <p:sp>
        <p:nvSpPr>
          <p:cNvPr id="18" name="Texto 18"/>
          <p:cNvSpPr txBox="1"/>
          <p:nvPr/>
        </p:nvSpPr>
        <p:spPr>
          <a:xfrm>
            <a:off x="6324600" y="27432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800" b="1" dirty="0">
                <a:solidFill>
                  <a:srgbClr val="9AA3AF"/>
                </a:solidFill>
              </a:rPr>
              <a:t>06</a:t>
            </a:r>
            <a:endParaRPr lang="pt-BR" sz="2800" dirty="0"/>
          </a:p>
        </p:txBody>
      </p:sp>
      <p:sp>
        <p:nvSpPr>
          <p:cNvPr id="19" name="Texto 19"/>
          <p:cNvSpPr txBox="1"/>
          <p:nvPr/>
        </p:nvSpPr>
        <p:spPr>
          <a:xfrm>
            <a:off x="7284720" y="2743200"/>
            <a:ext cx="4221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F5F7FA"/>
                </a:solidFill>
              </a:rPr>
              <a:t>Auto-melhoria (SDD)</a:t>
            </a:r>
            <a:endParaRPr lang="pt-BR" sz="20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dirty="0">
                <a:solidFill>
                  <a:srgbClr val="9AA3AF"/>
                </a:solidFill>
              </a:rPr>
              <a:t>O projeto que melhora a si mesmo</a:t>
            </a:r>
            <a:endParaRPr lang="pt-BR" sz="1300" dirty="0"/>
          </a:p>
        </p:txBody>
      </p:sp>
      <p:cxnSp>
        <p:nvCxnSpPr>
          <p:cNvPr id="20" name="Linha 20"/>
          <p:cNvCxnSpPr/>
          <p:nvPr/>
        </p:nvCxnSpPr>
        <p:spPr>
          <a:xfrm>
            <a:off x="7284720" y="3657600"/>
            <a:ext cx="4221480" cy="0"/>
          </a:xfrm>
          <a:prstGeom prst="line">
            <a:avLst/>
          </a:prstGeom>
          <a:ln w="9525">
            <a:solidFill>
              <a:srgbClr val="1B1F27"/>
            </a:solidFill>
          </a:ln>
        </p:spPr>
      </p:cxnSp>
      <p:sp>
        <p:nvSpPr>
          <p:cNvPr id="21" name="Texto 21"/>
          <p:cNvSpPr txBox="1"/>
          <p:nvPr/>
        </p:nvSpPr>
        <p:spPr>
          <a:xfrm>
            <a:off x="6324600" y="36576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800" b="1" dirty="0">
                <a:solidFill>
                  <a:srgbClr val="9AA3AF"/>
                </a:solidFill>
              </a:rPr>
              <a:t>07</a:t>
            </a:r>
            <a:endParaRPr lang="pt-BR" sz="2800" dirty="0"/>
          </a:p>
        </p:txBody>
      </p:sp>
      <p:sp>
        <p:nvSpPr>
          <p:cNvPr id="22" name="Texto 22"/>
          <p:cNvSpPr txBox="1"/>
          <p:nvPr/>
        </p:nvSpPr>
        <p:spPr>
          <a:xfrm>
            <a:off x="7284720" y="3657600"/>
            <a:ext cx="4221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F5F7FA"/>
                </a:solidFill>
              </a:rPr>
              <a:t>Roadmap</a:t>
            </a:r>
            <a:endParaRPr lang="pt-BR" sz="20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dirty="0">
                <a:solidFill>
                  <a:srgbClr val="9AA3AF"/>
                </a:solidFill>
              </a:rPr>
              <a:t>Backlog T18–T30 e paridade com Claude Code</a:t>
            </a:r>
            <a:endParaRPr lang="pt-BR" sz="1300" dirty="0"/>
          </a:p>
        </p:txBody>
      </p:sp>
      <p:sp>
        <p:nvSpPr>
          <p:cNvPr id="23" name="Texto 2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24" name="Texto 24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2 / 20</a:t>
            </a:r>
            <a:endParaRPr lang="pt-B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1463040"/>
            <a:ext cx="10820400" cy="11887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7200" b="1" dirty="0">
                <a:solidFill>
                  <a:srgbClr val="111111"/>
                </a:solidFill>
              </a:rPr>
              <a:t>01</a:t>
            </a:r>
            <a:endParaRPr lang="pt-BR" sz="7200" dirty="0"/>
          </a:p>
        </p:txBody>
      </p:sp>
      <p:sp>
        <p:nvSpPr>
          <p:cNvPr id="3" name="Texto 3"/>
          <p:cNvSpPr txBox="1"/>
          <p:nvPr/>
        </p:nvSpPr>
        <p:spPr>
          <a:xfrm>
            <a:off x="685800" y="2743200"/>
            <a:ext cx="1082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111111"/>
                </a:solidFill>
              </a:rPr>
              <a:t>Visão</a:t>
            </a:r>
            <a:endParaRPr lang="pt-BR" sz="4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41148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111111"/>
                </a:solidFill>
              </a:rPr>
              <a:t>O que é e por que existe</a:t>
            </a:r>
            <a:endParaRPr lang="pt-BR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000" b="1" dirty="0">
                <a:solidFill>
                  <a:srgbClr val="F5F7FA"/>
                </a:solidFill>
              </a:rPr>
              <a:t>Agente de programação e controle do PC, sem pagar por API</a:t>
            </a:r>
            <a:endParaRPr lang="pt-BR" sz="30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68580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5" name="Forma 5"/>
          <p:cNvSpPr/>
          <p:nvPr/>
        </p:nvSpPr>
        <p:spPr>
          <a:xfrm>
            <a:off x="685800" y="2537460"/>
            <a:ext cx="64008" cy="50292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6" name="Forma 6"/>
          <p:cNvSpPr/>
          <p:nvPr/>
        </p:nvSpPr>
        <p:spPr>
          <a:xfrm>
            <a:off x="960120" y="2537460"/>
            <a:ext cx="502920" cy="50292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🎓</a:t>
            </a:r>
            <a:endParaRPr lang="pt-BR" sz="1800" dirty="0"/>
          </a:p>
        </p:txBody>
      </p:sp>
      <p:sp>
        <p:nvSpPr>
          <p:cNvPr id="7" name="Texto 7"/>
          <p:cNvSpPr txBox="1"/>
          <p:nvPr/>
        </p:nvSpPr>
        <p:spPr>
          <a:xfrm>
            <a:off x="96012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Público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Estudantes e devs que querem um agente de código sem pagar API</a:t>
            </a:r>
            <a:endParaRPr lang="pt-BR" sz="1500" dirty="0"/>
          </a:p>
        </p:txBody>
      </p:sp>
      <p:sp>
        <p:nvSpPr>
          <p:cNvPr id="8" name="Forma 8"/>
          <p:cNvSpPr/>
          <p:nvPr/>
        </p:nvSpPr>
        <p:spPr>
          <a:xfrm>
            <a:off x="344805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9" name="Forma 9"/>
          <p:cNvSpPr/>
          <p:nvPr/>
        </p:nvSpPr>
        <p:spPr>
          <a:xfrm>
            <a:off x="3448050" y="2537460"/>
            <a:ext cx="64008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0" name="Forma 10"/>
          <p:cNvSpPr/>
          <p:nvPr/>
        </p:nvSpPr>
        <p:spPr>
          <a:xfrm>
            <a:off x="3722370" y="25374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💸</a:t>
            </a:r>
            <a:endParaRPr lang="pt-BR" sz="1800" dirty="0"/>
          </a:p>
        </p:txBody>
      </p:sp>
      <p:sp>
        <p:nvSpPr>
          <p:cNvPr id="11" name="Texto 11"/>
          <p:cNvSpPr txBox="1"/>
          <p:nvPr/>
        </p:nvSpPr>
        <p:spPr>
          <a:xfrm>
            <a:off x="372237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Custo zero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Roda de graça com os modelos de build.nvidia.com — a chave é do usuário</a:t>
            </a:r>
            <a:endParaRPr lang="pt-BR" sz="1500" dirty="0"/>
          </a:p>
        </p:txBody>
      </p:sp>
      <p:sp>
        <p:nvSpPr>
          <p:cNvPr id="12" name="Forma 12"/>
          <p:cNvSpPr/>
          <p:nvPr/>
        </p:nvSpPr>
        <p:spPr>
          <a:xfrm>
            <a:off x="621030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13" name="Forma 13"/>
          <p:cNvSpPr/>
          <p:nvPr/>
        </p:nvSpPr>
        <p:spPr>
          <a:xfrm>
            <a:off x="6210300" y="2537460"/>
            <a:ext cx="6400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Forma 14"/>
          <p:cNvSpPr/>
          <p:nvPr/>
        </p:nvSpPr>
        <p:spPr>
          <a:xfrm>
            <a:off x="6484620" y="25374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🧩</a:t>
            </a:r>
            <a:endParaRPr lang="pt-BR" sz="1800" dirty="0"/>
          </a:p>
        </p:txBody>
      </p:sp>
      <p:sp>
        <p:nvSpPr>
          <p:cNvPr id="15" name="Texto 15"/>
          <p:cNvSpPr txBox="1"/>
          <p:nvPr/>
        </p:nvSpPr>
        <p:spPr>
          <a:xfrm>
            <a:off x="648462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Onde roda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Extensão de VS Code + CLI de terminal com o mesmo núcleo</a:t>
            </a:r>
            <a:endParaRPr lang="pt-BR" sz="1500" dirty="0"/>
          </a:p>
        </p:txBody>
      </p:sp>
      <p:sp>
        <p:nvSpPr>
          <p:cNvPr id="16" name="Forma 16"/>
          <p:cNvSpPr/>
          <p:nvPr/>
        </p:nvSpPr>
        <p:spPr>
          <a:xfrm>
            <a:off x="897255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17" name="Forma 17"/>
          <p:cNvSpPr/>
          <p:nvPr/>
        </p:nvSpPr>
        <p:spPr>
          <a:xfrm>
            <a:off x="8972550" y="2537460"/>
            <a:ext cx="64008" cy="502920"/>
          </a:xfrm>
          <a:prstGeom prst="rect">
            <a:avLst/>
          </a:prstGeom>
          <a:solidFill>
            <a:srgbClr val="F472B6"/>
          </a:solidFill>
          <a:ln>
            <a:noFill/>
          </a:ln>
        </p:spPr>
      </p:sp>
      <p:sp>
        <p:nvSpPr>
          <p:cNvPr id="18" name="Forma 18"/>
          <p:cNvSpPr/>
          <p:nvPr/>
        </p:nvSpPr>
        <p:spPr>
          <a:xfrm>
            <a:off x="9246870" y="2537460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🇧🇷</a:t>
            </a:r>
            <a:endParaRPr lang="pt-BR" sz="1800" dirty="0"/>
          </a:p>
        </p:txBody>
      </p:sp>
      <p:sp>
        <p:nvSpPr>
          <p:cNvPr id="19" name="Texto 19"/>
          <p:cNvSpPr txBox="1"/>
          <p:nvPr/>
        </p:nvSpPr>
        <p:spPr>
          <a:xfrm>
            <a:off x="924687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Idioma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Interface e mensagens 100% em português do Brasil</a:t>
            </a:r>
            <a:endParaRPr lang="pt-BR" sz="1500" dirty="0"/>
          </a:p>
        </p:txBody>
      </p:sp>
      <p:sp>
        <p:nvSpPr>
          <p:cNvPr id="20" name="Forma 20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21" name="Forma 21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22" name="Texto 22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Um agente estilo Claude Code, gratuito e em português, útil de verdade no dia a dia.</a:t>
            </a:r>
            <a:endParaRPr lang="pt-BR" sz="1600" dirty="0"/>
          </a:p>
        </p:txBody>
      </p:sp>
      <p:sp>
        <p:nvSpPr>
          <p:cNvPr id="23" name="Texto 2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24" name="Texto 24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4 / 20</a:t>
            </a:r>
            <a:endParaRPr lang="pt-B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Como funciona uma tarefa, do pedido à entrega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685800" y="2313667"/>
            <a:ext cx="2927985" cy="1005840"/>
          </a:xfrm>
          <a:prstGeom prst="homePlate">
            <a:avLst>
              <a:gd name="adj" fmla="val 35000"/>
            </a:avLst>
          </a:prstGeom>
          <a:solidFill>
            <a:srgbClr val="76B900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Pedido</a:t>
            </a:r>
            <a:endParaRPr lang="pt-BR" sz="1700" dirty="0"/>
          </a:p>
        </p:txBody>
      </p:sp>
      <p:sp>
        <p:nvSpPr>
          <p:cNvPr id="5" name="Texto 5"/>
          <p:cNvSpPr txBox="1"/>
          <p:nvPr/>
        </p:nvSpPr>
        <p:spPr>
          <a:xfrm>
            <a:off x="731520" y="3593827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76B900"/>
                </a:solidFill>
              </a:rPr>
              <a:t>01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Você conversa em português no painel do VS Code ou no terminal</a:t>
            </a:r>
            <a:endParaRPr lang="pt-BR" sz="1500" dirty="0"/>
          </a:p>
        </p:txBody>
      </p:sp>
      <p:sp>
        <p:nvSpPr>
          <p:cNvPr id="6" name="Forma 6"/>
          <p:cNvSpPr/>
          <p:nvPr/>
        </p:nvSpPr>
        <p:spPr>
          <a:xfrm>
            <a:off x="3316605" y="2313667"/>
            <a:ext cx="2927985" cy="1005840"/>
          </a:xfrm>
          <a:prstGeom prst="chevron">
            <a:avLst>
              <a:gd name="adj" fmla="val 35000"/>
            </a:avLst>
          </a:prstGeom>
          <a:solidFill>
            <a:srgbClr val="38BDF8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Plano</a:t>
            </a:r>
            <a:endParaRPr lang="pt-BR" sz="1700" dirty="0"/>
          </a:p>
        </p:txBody>
      </p:sp>
      <p:sp>
        <p:nvSpPr>
          <p:cNvPr id="7" name="Texto 7"/>
          <p:cNvSpPr txBox="1"/>
          <p:nvPr/>
        </p:nvSpPr>
        <p:spPr>
          <a:xfrm>
            <a:off x="3714369" y="3593827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38BDF8"/>
                </a:solidFill>
              </a:rPr>
              <a:t>02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O agente lê o projeto, monta um plano visível e diz o que vai fazer e por quê</a:t>
            </a:r>
            <a:endParaRPr lang="pt-BR" sz="1500" dirty="0"/>
          </a:p>
        </p:txBody>
      </p:sp>
      <p:sp>
        <p:nvSpPr>
          <p:cNvPr id="8" name="Forma 8"/>
          <p:cNvSpPr/>
          <p:nvPr/>
        </p:nvSpPr>
        <p:spPr>
          <a:xfrm>
            <a:off x="5947410" y="2313667"/>
            <a:ext cx="2927985" cy="1005840"/>
          </a:xfrm>
          <a:prstGeom prst="chevron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Ação</a:t>
            </a:r>
            <a:endParaRPr lang="pt-BR" sz="1700" dirty="0"/>
          </a:p>
        </p:txBody>
      </p:sp>
      <p:sp>
        <p:nvSpPr>
          <p:cNvPr id="9" name="Texto 9"/>
          <p:cNvSpPr txBox="1"/>
          <p:nvPr/>
        </p:nvSpPr>
        <p:spPr>
          <a:xfrm>
            <a:off x="6345174" y="3593827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F59E0B"/>
                </a:solidFill>
              </a:rPr>
              <a:t>03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Edita arquivos, roda comandos e testes, usa git — cada ação passa por aprovação</a:t>
            </a:r>
            <a:endParaRPr lang="pt-BR" sz="1500" dirty="0"/>
          </a:p>
        </p:txBody>
      </p:sp>
      <p:sp>
        <p:nvSpPr>
          <p:cNvPr id="10" name="Forma 10"/>
          <p:cNvSpPr/>
          <p:nvPr/>
        </p:nvSpPr>
        <p:spPr>
          <a:xfrm>
            <a:off x="8578215" y="2313667"/>
            <a:ext cx="2927985" cy="1005840"/>
          </a:xfrm>
          <a:prstGeom prst="chevron">
            <a:avLst>
              <a:gd name="adj" fmla="val 35000"/>
            </a:avLst>
          </a:prstGeom>
          <a:solidFill>
            <a:srgbClr val="F472B6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Verificação</a:t>
            </a:r>
            <a:endParaRPr lang="pt-BR" sz="1700" dirty="0"/>
          </a:p>
        </p:txBody>
      </p:sp>
      <p:sp>
        <p:nvSpPr>
          <p:cNvPr id="11" name="Texto 11"/>
          <p:cNvSpPr txBox="1"/>
          <p:nvPr/>
        </p:nvSpPr>
        <p:spPr>
          <a:xfrm>
            <a:off x="8975979" y="3593827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F472B6"/>
                </a:solidFill>
              </a:rPr>
              <a:t>04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Roda a suíte de testes, revisa o diff e só então conclui</a:t>
            </a:r>
            <a:endParaRPr lang="pt-BR" sz="1500" dirty="0"/>
          </a:p>
        </p:txBody>
      </p:sp>
      <p:sp>
        <p:nvSpPr>
          <p:cNvPr id="12" name="Forma 12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13" name="Forma 13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4" name="Texto 14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Nada é alterado sem você ver e aprovar — o modo Auto existe, mas as regras deny sempre valem.</a:t>
            </a:r>
            <a:endParaRPr lang="pt-BR" sz="1600" dirty="0"/>
          </a:p>
        </p:txBody>
      </p:sp>
      <p:sp>
        <p:nvSpPr>
          <p:cNvPr id="15" name="Texto 1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16" name="Texto 16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5 / 20</a:t>
            </a:r>
            <a:endParaRPr lang="pt-B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1463040"/>
            <a:ext cx="10820400" cy="11887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7200" b="1" dirty="0">
                <a:solidFill>
                  <a:srgbClr val="111111"/>
                </a:solidFill>
              </a:rPr>
              <a:t>02</a:t>
            </a:r>
            <a:endParaRPr lang="pt-BR" sz="7200" dirty="0"/>
          </a:p>
        </p:txBody>
      </p:sp>
      <p:sp>
        <p:nvSpPr>
          <p:cNvPr id="3" name="Texto 3"/>
          <p:cNvSpPr txBox="1"/>
          <p:nvPr/>
        </p:nvSpPr>
        <p:spPr>
          <a:xfrm>
            <a:off x="685800" y="2743200"/>
            <a:ext cx="1082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111111"/>
                </a:solidFill>
              </a:rPr>
              <a:t>Arquitetura</a:t>
            </a:r>
            <a:endParaRPr lang="pt-BR" sz="4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41148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111111"/>
                </a:solidFill>
              </a:rPr>
              <a:t>Um núcleo, várias interfaces</a:t>
            </a:r>
            <a:endParaRPr lang="pt-BR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Um núcleo compartilhado, cinco interfaces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cxnSp>
        <p:nvCxnSpPr>
          <p:cNvPr id="4" name="Linha 4"/>
          <p:cNvCxnSpPr/>
          <p:nvPr/>
        </p:nvCxnSpPr>
        <p:spPr>
          <a:xfrm flipV="1">
            <a:off x="6096000" y="2263140"/>
            <a:ext cx="0" cy="1165860"/>
          </a:xfrm>
          <a:prstGeom prst="line">
            <a:avLst/>
          </a:prstGeom>
          <a:ln w="15875">
            <a:solidFill>
              <a:srgbClr val="9AA3AF"/>
            </a:solidFill>
          </a:ln>
        </p:spPr>
      </p:cxnSp>
      <p:cxnSp>
        <p:nvCxnSpPr>
          <p:cNvPr id="5" name="Linha 5"/>
          <p:cNvCxnSpPr/>
          <p:nvPr/>
        </p:nvCxnSpPr>
        <p:spPr>
          <a:xfrm flipV="1">
            <a:off x="6096000" y="2846070"/>
            <a:ext cx="3695504" cy="582930"/>
          </a:xfrm>
          <a:prstGeom prst="line">
            <a:avLst/>
          </a:prstGeom>
          <a:ln w="15875">
            <a:solidFill>
              <a:srgbClr val="9AA3AF"/>
            </a:solidFill>
          </a:ln>
        </p:spPr>
      </p:cxnSp>
      <p:cxnSp>
        <p:nvCxnSpPr>
          <p:cNvPr id="6" name="Linha 6"/>
          <p:cNvCxnSpPr/>
          <p:nvPr/>
        </p:nvCxnSpPr>
        <p:spPr>
          <a:xfrm>
            <a:off x="6096000" y="3429000"/>
            <a:ext cx="3695504" cy="582930"/>
          </a:xfrm>
          <a:prstGeom prst="line">
            <a:avLst/>
          </a:prstGeom>
          <a:ln w="15875">
            <a:solidFill>
              <a:srgbClr val="9AA3AF"/>
            </a:solidFill>
          </a:ln>
        </p:spPr>
      </p:cxnSp>
      <p:cxnSp>
        <p:nvCxnSpPr>
          <p:cNvPr id="7" name="Linha 7"/>
          <p:cNvCxnSpPr/>
          <p:nvPr/>
        </p:nvCxnSpPr>
        <p:spPr>
          <a:xfrm>
            <a:off x="6096000" y="3429000"/>
            <a:ext cx="0" cy="1165860"/>
          </a:xfrm>
          <a:prstGeom prst="line">
            <a:avLst/>
          </a:prstGeom>
          <a:ln w="15875">
            <a:solidFill>
              <a:srgbClr val="9AA3AF"/>
            </a:solidFill>
          </a:ln>
        </p:spPr>
      </p:cxnSp>
      <p:cxnSp>
        <p:nvCxnSpPr>
          <p:cNvPr id="8" name="Linha 8"/>
          <p:cNvCxnSpPr/>
          <p:nvPr/>
        </p:nvCxnSpPr>
        <p:spPr>
          <a:xfrm flipH="1">
            <a:off x="2400496" y="3429000"/>
            <a:ext cx="3695504" cy="582930"/>
          </a:xfrm>
          <a:prstGeom prst="line">
            <a:avLst/>
          </a:prstGeom>
          <a:ln w="15875">
            <a:solidFill>
              <a:srgbClr val="9AA3AF"/>
            </a:solidFill>
          </a:ln>
        </p:spPr>
      </p:cxnSp>
      <p:cxnSp>
        <p:nvCxnSpPr>
          <p:cNvPr id="9" name="Linha 9"/>
          <p:cNvCxnSpPr/>
          <p:nvPr/>
        </p:nvCxnSpPr>
        <p:spPr>
          <a:xfrm flipH="1" flipV="1">
            <a:off x="2400496" y="2846070"/>
            <a:ext cx="3695504" cy="582930"/>
          </a:xfrm>
          <a:prstGeom prst="line">
            <a:avLst/>
          </a:prstGeom>
          <a:ln w="15875">
            <a:solidFill>
              <a:srgbClr val="9AA3AF"/>
            </a:solidFill>
          </a:ln>
        </p:spPr>
      </p:cxnSp>
      <p:sp>
        <p:nvSpPr>
          <p:cNvPr id="10" name="Forma 10"/>
          <p:cNvSpPr/>
          <p:nvPr/>
        </p:nvSpPr>
        <p:spPr>
          <a:xfrm>
            <a:off x="5487924" y="2820924"/>
            <a:ext cx="1216152" cy="1216152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000" b="1" dirty="0">
                <a:solidFill>
                  <a:srgbClr val="111111"/>
                </a:solidFill>
              </a:rPr>
              <a:t>lib/agent.js
(núcleo)</a:t>
            </a:r>
            <a:endParaRPr lang="pt-BR" sz="1000" dirty="0"/>
          </a:p>
        </p:txBody>
      </p:sp>
      <p:sp>
        <p:nvSpPr>
          <p:cNvPr id="11" name="Forma 11"/>
          <p:cNvSpPr/>
          <p:nvPr/>
        </p:nvSpPr>
        <p:spPr>
          <a:xfrm>
            <a:off x="4953000" y="1828800"/>
            <a:ext cx="2286000" cy="868680"/>
          </a:xfrm>
          <a:prstGeom prst="roundRect">
            <a:avLst>
              <a:gd name="adj" fmla="val 18000"/>
            </a:avLst>
          </a:prstGeom>
          <a:solidFill>
            <a:srgbClr val="1B1F27"/>
          </a:solidFill>
          <a:ln w="22225">
            <a:solidFill>
              <a:srgbClr val="76B900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F5F7FA"/>
                </a:solidFill>
              </a:rPr>
              <a:t>CLI (bin/rfcode.js)</a:t>
            </a:r>
            <a:endParaRPr lang="pt-BR" sz="1400" dirty="0"/>
          </a:p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REPL no terminal com os mesmos comandos /</a:t>
            </a:r>
            <a:endParaRPr lang="pt-BR" sz="1100" dirty="0"/>
          </a:p>
        </p:txBody>
      </p:sp>
      <p:sp>
        <p:nvSpPr>
          <p:cNvPr id="12" name="Forma 12"/>
          <p:cNvSpPr/>
          <p:nvPr/>
        </p:nvSpPr>
        <p:spPr>
          <a:xfrm>
            <a:off x="8648504" y="2411730"/>
            <a:ext cx="2286000" cy="868680"/>
          </a:xfrm>
          <a:prstGeom prst="roundRect">
            <a:avLst>
              <a:gd name="adj" fmla="val 18000"/>
            </a:avLst>
          </a:prstGeom>
          <a:solidFill>
            <a:srgbClr val="1B1F27"/>
          </a:solidFill>
          <a:ln w="22225">
            <a:solidFill>
              <a:srgbClr val="38BDF8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F5F7FA"/>
                </a:solidFill>
              </a:rPr>
              <a:t>Extensão</a:t>
            </a:r>
            <a:endParaRPr lang="pt-BR" sz="1400" dirty="0"/>
          </a:p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Painel webview na barra lateral do VS Code</a:t>
            </a:r>
            <a:endParaRPr lang="pt-BR" sz="1100" dirty="0"/>
          </a:p>
        </p:txBody>
      </p:sp>
      <p:sp>
        <p:nvSpPr>
          <p:cNvPr id="13" name="Forma 13"/>
          <p:cNvSpPr/>
          <p:nvPr/>
        </p:nvSpPr>
        <p:spPr>
          <a:xfrm>
            <a:off x="8648504" y="3577590"/>
            <a:ext cx="2286000" cy="868680"/>
          </a:xfrm>
          <a:prstGeom prst="roundRect">
            <a:avLst>
              <a:gd name="adj" fmla="val 18000"/>
            </a:avLst>
          </a:prstGeom>
          <a:solidFill>
            <a:srgbClr val="1B1F27"/>
          </a:solidFill>
          <a:ln w="22225">
            <a:solidFill>
              <a:srgbClr val="F59E0B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F5F7FA"/>
                </a:solidFill>
              </a:rPr>
              <a:t>Controle remoto</a:t>
            </a:r>
            <a:endParaRPr lang="pt-BR" sz="1400" dirty="0"/>
          </a:p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Mesmo painel no celular, por QR code</a:t>
            </a:r>
            <a:endParaRPr lang="pt-BR" sz="1100" dirty="0"/>
          </a:p>
        </p:txBody>
      </p:sp>
      <p:sp>
        <p:nvSpPr>
          <p:cNvPr id="14" name="Forma 14"/>
          <p:cNvSpPr/>
          <p:nvPr/>
        </p:nvSpPr>
        <p:spPr>
          <a:xfrm>
            <a:off x="4953000" y="4160520"/>
            <a:ext cx="2286000" cy="868680"/>
          </a:xfrm>
          <a:prstGeom prst="roundRect">
            <a:avLst>
              <a:gd name="adj" fmla="val 18000"/>
            </a:avLst>
          </a:prstGeom>
          <a:solidFill>
            <a:srgbClr val="1B1F27"/>
          </a:solidFill>
          <a:ln w="22225">
            <a:solidFill>
              <a:srgbClr val="F472B6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F5F7FA"/>
                </a:solidFill>
              </a:rPr>
              <a:t>Automação</a:t>
            </a:r>
            <a:endParaRPr lang="pt-BR" sz="1400" dirty="0"/>
          </a:p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GitHub Action e modo headless rfcode -p</a:t>
            </a:r>
            <a:endParaRPr lang="pt-BR" sz="1100" dirty="0"/>
          </a:p>
        </p:txBody>
      </p:sp>
      <p:sp>
        <p:nvSpPr>
          <p:cNvPr id="15" name="Forma 15"/>
          <p:cNvSpPr/>
          <p:nvPr/>
        </p:nvSpPr>
        <p:spPr>
          <a:xfrm>
            <a:off x="1257496" y="3577590"/>
            <a:ext cx="2286000" cy="868680"/>
          </a:xfrm>
          <a:prstGeom prst="roundRect">
            <a:avLst>
              <a:gd name="adj" fmla="val 18000"/>
            </a:avLst>
          </a:prstGeom>
          <a:solidFill>
            <a:srgbClr val="1B1F27"/>
          </a:solidFill>
          <a:ln w="22225">
            <a:solidFill>
              <a:srgbClr val="A78BFA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F5F7FA"/>
                </a:solidFill>
              </a:rPr>
              <a:t>Controle do PC</a:t>
            </a:r>
            <a:endParaRPr lang="pt-BR" sz="1400" dirty="0"/>
          </a:p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Janelas, OCR local, cliques e teclado</a:t>
            </a:r>
            <a:endParaRPr lang="pt-BR" sz="1100" dirty="0"/>
          </a:p>
        </p:txBody>
      </p:sp>
      <p:sp>
        <p:nvSpPr>
          <p:cNvPr id="16" name="Forma 16"/>
          <p:cNvSpPr/>
          <p:nvPr/>
        </p:nvSpPr>
        <p:spPr>
          <a:xfrm>
            <a:off x="1257496" y="2411730"/>
            <a:ext cx="2286000" cy="868680"/>
          </a:xfrm>
          <a:prstGeom prst="roundRect">
            <a:avLst>
              <a:gd name="adj" fmla="val 18000"/>
            </a:avLst>
          </a:prstGeom>
          <a:solidFill>
            <a:srgbClr val="1B1F27"/>
          </a:solidFill>
          <a:ln w="22225">
            <a:solidFill>
              <a:srgbClr val="2DD4BF"/>
            </a:solidFill>
          </a:ln>
        </p:spPr>
        <p:txBody>
          <a:bodyPr wrap="square" lIns="54864" tIns="54864" rIns="54864" bIns="54864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F5F7FA"/>
                </a:solidFill>
              </a:rPr>
              <a:t>Modelos</a:t>
            </a:r>
            <a:endParaRPr lang="pt-BR" sz="1400" dirty="0"/>
          </a:p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API OpenAI-compatível (NVIDIA e +16 provedores)</a:t>
            </a:r>
            <a:endParaRPr lang="pt-BR" sz="1100" dirty="0"/>
          </a:p>
        </p:txBody>
      </p:sp>
      <p:sp>
        <p:nvSpPr>
          <p:cNvPr id="17" name="Forma 17"/>
          <p:cNvSpPr/>
          <p:nvPr/>
        </p:nvSpPr>
        <p:spPr>
          <a:xfrm>
            <a:off x="685800" y="5212080"/>
            <a:ext cx="10820400" cy="7772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18" name="Forma 18"/>
          <p:cNvSpPr/>
          <p:nvPr/>
        </p:nvSpPr>
        <p:spPr>
          <a:xfrm>
            <a:off x="685800" y="5212080"/>
            <a:ext cx="73152" cy="7772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9" name="Texto 19"/>
          <p:cNvSpPr txBox="1"/>
          <p:nvPr/>
        </p:nvSpPr>
        <p:spPr>
          <a:xfrm>
            <a:off x="960120" y="5212080"/>
            <a:ext cx="1036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F5F7FA"/>
                </a:solidFill>
              </a:rPr>
              <a:t>Lógica nova vai para lib/ e as interfaces só exibem — um núcleo testável, sem dependências de runtime.</a:t>
            </a:r>
            <a:endParaRPr lang="pt-BR" sz="1400" dirty="0"/>
          </a:p>
        </p:txBody>
      </p:sp>
      <p:sp>
        <p:nvSpPr>
          <p:cNvPr id="20" name="Texto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21" name="Texto 21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7 / 20</a:t>
            </a:r>
            <a:endParaRPr lang="pt-BR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O projeto em números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685800" y="2194560"/>
            <a:ext cx="2499360" cy="2926080"/>
          </a:xfrm>
          <a:prstGeom prst="roundRect">
            <a:avLst>
              <a:gd name="adj" fmla="val 5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5" name="Texto 5"/>
          <p:cNvSpPr txBox="1"/>
          <p:nvPr/>
        </p:nvSpPr>
        <p:spPr>
          <a:xfrm>
            <a:off x="960120" y="2560320"/>
            <a:ext cx="1950720" cy="12801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76B900"/>
                </a:solidFill>
              </a:rPr>
              <a:t>145</a:t>
            </a:r>
            <a:endParaRPr lang="pt-BR" sz="4400" dirty="0"/>
          </a:p>
        </p:txBody>
      </p:sp>
      <p:sp>
        <p:nvSpPr>
          <p:cNvPr id="6" name="Texto 6"/>
          <p:cNvSpPr txBox="1"/>
          <p:nvPr/>
        </p:nvSpPr>
        <p:spPr>
          <a:xfrm>
            <a:off x="960120" y="3977640"/>
            <a:ext cx="19507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rgbClr val="9AA3AF"/>
                </a:solidFill>
              </a:rPr>
              <a:t>testes automatizados passando</a:t>
            </a:r>
            <a:endParaRPr lang="pt-BR" sz="1600" dirty="0"/>
          </a:p>
        </p:txBody>
      </p:sp>
      <p:sp>
        <p:nvSpPr>
          <p:cNvPr id="7" name="Forma 7"/>
          <p:cNvSpPr/>
          <p:nvPr/>
        </p:nvSpPr>
        <p:spPr>
          <a:xfrm>
            <a:off x="3459480" y="2194560"/>
            <a:ext cx="2499360" cy="2926080"/>
          </a:xfrm>
          <a:prstGeom prst="roundRect">
            <a:avLst>
              <a:gd name="adj" fmla="val 5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8" name="Texto 8"/>
          <p:cNvSpPr txBox="1"/>
          <p:nvPr/>
        </p:nvSpPr>
        <p:spPr>
          <a:xfrm>
            <a:off x="3733800" y="2560320"/>
            <a:ext cx="1950720" cy="12801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76B900"/>
                </a:solidFill>
              </a:rPr>
              <a:t>17</a:t>
            </a:r>
            <a:endParaRPr lang="pt-BR" sz="4400" dirty="0"/>
          </a:p>
        </p:txBody>
      </p:sp>
      <p:sp>
        <p:nvSpPr>
          <p:cNvPr id="9" name="Texto 9"/>
          <p:cNvSpPr txBox="1"/>
          <p:nvPr/>
        </p:nvSpPr>
        <p:spPr>
          <a:xfrm>
            <a:off x="3733800" y="3977640"/>
            <a:ext cx="19507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rgbClr val="9AA3AF"/>
                </a:solidFill>
              </a:rPr>
              <a:t>provedores de modelos suportados</a:t>
            </a:r>
            <a:endParaRPr lang="pt-BR" sz="1600" dirty="0"/>
          </a:p>
        </p:txBody>
      </p:sp>
      <p:sp>
        <p:nvSpPr>
          <p:cNvPr id="10" name="Forma 10"/>
          <p:cNvSpPr/>
          <p:nvPr/>
        </p:nvSpPr>
        <p:spPr>
          <a:xfrm>
            <a:off x="6233160" y="2194560"/>
            <a:ext cx="2499360" cy="2926080"/>
          </a:xfrm>
          <a:prstGeom prst="roundRect">
            <a:avLst>
              <a:gd name="adj" fmla="val 5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11" name="Texto 11"/>
          <p:cNvSpPr txBox="1"/>
          <p:nvPr/>
        </p:nvSpPr>
        <p:spPr>
          <a:xfrm>
            <a:off x="6507480" y="2560320"/>
            <a:ext cx="1950720" cy="12801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76B900"/>
                </a:solidFill>
              </a:rPr>
              <a:t>28</a:t>
            </a:r>
            <a:endParaRPr lang="pt-BR" sz="4400" dirty="0"/>
          </a:p>
        </p:txBody>
      </p:sp>
      <p:sp>
        <p:nvSpPr>
          <p:cNvPr id="12" name="Texto 12"/>
          <p:cNvSpPr txBox="1"/>
          <p:nvPr/>
        </p:nvSpPr>
        <p:spPr>
          <a:xfrm>
            <a:off x="6507480" y="3977640"/>
            <a:ext cx="19507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rgbClr val="9AA3AF"/>
                </a:solidFill>
              </a:rPr>
              <a:t>comandos / disponíveis</a:t>
            </a:r>
            <a:endParaRPr lang="pt-BR" sz="1600" dirty="0"/>
          </a:p>
        </p:txBody>
      </p:sp>
      <p:sp>
        <p:nvSpPr>
          <p:cNvPr id="13" name="Forma 13"/>
          <p:cNvSpPr/>
          <p:nvPr/>
        </p:nvSpPr>
        <p:spPr>
          <a:xfrm>
            <a:off x="9006840" y="2194560"/>
            <a:ext cx="2499360" cy="2926080"/>
          </a:xfrm>
          <a:prstGeom prst="roundRect">
            <a:avLst>
              <a:gd name="adj" fmla="val 5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14" name="Texto 14"/>
          <p:cNvSpPr txBox="1"/>
          <p:nvPr/>
        </p:nvSpPr>
        <p:spPr>
          <a:xfrm>
            <a:off x="9281160" y="2560320"/>
            <a:ext cx="1950720" cy="12801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76B900"/>
                </a:solidFill>
              </a:rPr>
              <a:t>0</a:t>
            </a:r>
            <a:endParaRPr lang="pt-BR" sz="4400" dirty="0"/>
          </a:p>
        </p:txBody>
      </p:sp>
      <p:sp>
        <p:nvSpPr>
          <p:cNvPr id="15" name="Texto 15"/>
          <p:cNvSpPr txBox="1"/>
          <p:nvPr/>
        </p:nvSpPr>
        <p:spPr>
          <a:xfrm>
            <a:off x="9281160" y="3977640"/>
            <a:ext cx="19507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rgbClr val="9AA3AF"/>
                </a:solidFill>
              </a:rPr>
              <a:t>dependências de runtime</a:t>
            </a:r>
            <a:endParaRPr lang="pt-BR" sz="1600" dirty="0"/>
          </a:p>
        </p:txBody>
      </p:sp>
      <p:sp>
        <p:nvSpPr>
          <p:cNvPr id="16" name="Forma 16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17" name="Forma 17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8" name="Texto 18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Só Node ≥ 18 e APIs do sistema: nada de npm install para usar.</a:t>
            </a:r>
            <a:endParaRPr lang="pt-BR" sz="1600" dirty="0"/>
          </a:p>
        </p:txBody>
      </p:sp>
      <p:sp>
        <p:nvSpPr>
          <p:cNvPr id="19" name="Texto 19"/>
          <p:cNvSpPr txBox="1"/>
          <p:nvPr/>
        </p:nvSpPr>
        <p:spPr>
          <a:xfrm>
            <a:off x="685800" y="6108192"/>
            <a:ext cx="9174480" cy="256032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000" dirty="0">
                <a:solidFill>
                  <a:srgbClr val="9AA3AF"/>
                </a:solidFill>
              </a:rPr>
              <a:t>Fonte: package.json e suíte de testes do projeto</a:t>
            </a:r>
            <a:endParaRPr lang="pt-BR" sz="1000" dirty="0"/>
          </a:p>
        </p:txBody>
      </p:sp>
      <p:sp>
        <p:nvSpPr>
          <p:cNvPr id="20" name="Texto 20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8 / 20</a:t>
            </a:r>
            <a:endParaRPr lang="pt-BR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1463040"/>
            <a:ext cx="10820400" cy="11887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7200" b="1" dirty="0">
                <a:solidFill>
                  <a:srgbClr val="111111"/>
                </a:solidFill>
              </a:rPr>
              <a:t>03</a:t>
            </a:r>
            <a:endParaRPr lang="pt-BR" sz="7200" dirty="0"/>
          </a:p>
        </p:txBody>
      </p:sp>
      <p:sp>
        <p:nvSpPr>
          <p:cNvPr id="3" name="Texto 3"/>
          <p:cNvSpPr txBox="1"/>
          <p:nvPr/>
        </p:nvSpPr>
        <p:spPr>
          <a:xfrm>
            <a:off x="685800" y="2743200"/>
            <a:ext cx="1082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111111"/>
                </a:solidFill>
              </a:rPr>
              <a:t>Capacidades</a:t>
            </a:r>
            <a:endParaRPr lang="pt-BR" sz="4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41148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111111"/>
                </a:solidFill>
              </a:rPr>
              <a:t>Código, git, dados, documentos, vídeo e PC</a:t>
            </a:r>
            <a:endParaRPr lang="pt-BR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O que o rfcode faz hoje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685800" y="1828800"/>
            <a:ext cx="5250180" cy="3429000"/>
          </a:xfrm>
          <a:prstGeom prst="roundRect">
            <a:avLst>
              <a:gd name="adj" fmla="val 4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5" name="Texto 5"/>
          <p:cNvSpPr txBox="1"/>
          <p:nvPr/>
        </p:nvSpPr>
        <p:spPr>
          <a:xfrm>
            <a:off x="1005840" y="2103120"/>
            <a:ext cx="4610100" cy="2880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76B900"/>
                </a:solidFill>
              </a:rPr>
              <a:t>Engenharia de software</a:t>
            </a:r>
            <a:endParaRPr lang="pt-BR" sz="20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Código:</a:t>
            </a:r>
            <a:r>
              <a:rPr lang="pt-BR" sz="1800" dirty="0">
                <a:solidFill>
                  <a:srgbClr val="F5F7FA"/>
                </a:solidFill>
              </a:rPr>
              <a:t> leitura, busca, edições atômicas, execução de testes e desfazer</a:t>
            </a:r>
            <a:endParaRPr lang="pt-BR" sz="18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Entender código:</a:t>
            </a:r>
            <a:r>
              <a:rPr lang="pt-BR" sz="1800" dirty="0">
                <a:solidFill>
                  <a:srgbClr val="F5F7FA"/>
                </a:solidFill>
              </a:rPr>
              <a:t> mapa de classes/funções em 12 linguagens, referências, grafo de dependências, busca por significado</a:t>
            </a:r>
            <a:endParaRPr lang="pt-BR" sz="18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Git e GitHub:</a:t>
            </a:r>
            <a:r>
              <a:rPr lang="pt-BR" sz="1800" dirty="0">
                <a:solidFill>
                  <a:srgbClr val="F5F7FA"/>
                </a:solidFill>
              </a:rPr>
              <a:t> branches, merge com conflitos, blame, PRs, issues, logs do Actions</a:t>
            </a:r>
            <a:endParaRPr lang="pt-BR" sz="18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Dados:</a:t>
            </a:r>
            <a:r>
              <a:rPr lang="pt-BR" sz="1800" dirty="0">
                <a:solidFill>
                  <a:srgbClr val="F5F7FA"/>
                </a:solidFill>
              </a:rPr>
              <a:t> SQL em CSV/Excel/JSON/SQLite e planilhas formatadas</a:t>
            </a:r>
            <a:endParaRPr lang="pt-BR" sz="1800" dirty="0"/>
          </a:p>
        </p:txBody>
      </p:sp>
      <p:sp>
        <p:nvSpPr>
          <p:cNvPr id="6" name="Forma 6"/>
          <p:cNvSpPr/>
          <p:nvPr/>
        </p:nvSpPr>
        <p:spPr>
          <a:xfrm>
            <a:off x="6256020" y="1828800"/>
            <a:ext cx="5250180" cy="3429000"/>
          </a:xfrm>
          <a:prstGeom prst="roundRect">
            <a:avLst>
              <a:gd name="adj" fmla="val 4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7" name="Texto 7"/>
          <p:cNvSpPr txBox="1"/>
          <p:nvPr/>
        </p:nvSpPr>
        <p:spPr>
          <a:xfrm>
            <a:off x="6576060" y="2103120"/>
            <a:ext cx="4610100" cy="2880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b="1" dirty="0">
                <a:solidFill>
                  <a:srgbClr val="76B900"/>
                </a:solidFill>
              </a:rPr>
              <a:t>Documentos, mídia e automação</a:t>
            </a:r>
            <a:endParaRPr lang="pt-BR" sz="20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Documentos:</a:t>
            </a:r>
            <a:r>
              <a:rPr lang="pt-BR" sz="1800" dirty="0">
                <a:solidFill>
                  <a:srgbClr val="F5F7FA"/>
                </a:solidFill>
              </a:rPr>
              <a:t> PowerPoint com gráficos e diagramas nativos em 7 temas; Word a partir de markdown; lê PDF, Word, Excel</a:t>
            </a:r>
            <a:endParaRPr lang="pt-BR" sz="18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Vídeo:</a:t>
            </a:r>
            <a:r>
              <a:rPr lang="pt-BR" sz="1800" dirty="0">
                <a:solidFill>
                  <a:srgbClr val="F5F7FA"/>
                </a:solidFill>
              </a:rPr>
              <a:t> vídeos narrados em português com legendas (WebM/MP4)</a:t>
            </a:r>
            <a:endParaRPr lang="pt-BR" sz="18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Navegador e Windows:</a:t>
            </a:r>
            <a:r>
              <a:rPr lang="pt-BR" sz="1800" dirty="0">
                <a:solidFill>
                  <a:srgbClr val="F5F7FA"/>
                </a:solidFill>
              </a:rPr>
              <a:t> Chrome controlado, OCR local, cliques e teclado</a:t>
            </a:r>
            <a:endParaRPr lang="pt-BR" sz="1800" dirty="0"/>
          </a:p>
          <a:p>
            <a:pPr algn="l" marL="292608" indent="-292608">
              <a:lnSpc>
                <a:spcPct val="105000"/>
              </a:lnSpc>
              <a:spcBef>
                <a:spcPts val="7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800" b="1" dirty="0">
                <a:solidFill>
                  <a:srgbClr val="F5F7FA"/>
                </a:solidFill>
              </a:rPr>
              <a:t>Pesquisa:</a:t>
            </a:r>
            <a:r>
              <a:rPr lang="pt-BR" sz="1800" dirty="0">
                <a:solidFill>
                  <a:srgbClr val="F5F7FA"/>
                </a:solidFill>
              </a:rPr>
              <a:t> busca na web com fontes citadas e subagentes para pesquisas amplas</a:t>
            </a:r>
            <a:endParaRPr lang="pt-BR" sz="1800" dirty="0"/>
          </a:p>
        </p:txBody>
      </p:sp>
      <p:sp>
        <p:nvSpPr>
          <p:cNvPr id="8" name="Forma 8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9" name="Forma 9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0" name="Texto 10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Do código ao slide pronto: um agente só cobre o ciclo inteiro de trabalho.</a:t>
            </a:r>
            <a:endParaRPr lang="pt-BR" sz="1600" dirty="0"/>
          </a:p>
        </p:txBody>
      </p:sp>
      <p:sp>
        <p:nvSpPr>
          <p:cNvPr id="11" name="Texto 11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12" name="Texto 12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10 / 20</a:t>
            </a:r>
            <a:endParaRPr lang="pt-BR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Além do chat: missões, agendamentos e skills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685800" y="2299960"/>
            <a:ext cx="2927985" cy="1005840"/>
          </a:xfrm>
          <a:prstGeom prst="homePlate">
            <a:avLst>
              <a:gd name="adj" fmla="val 35000"/>
            </a:avLst>
          </a:prstGeom>
          <a:solidFill>
            <a:srgbClr val="76B900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/missao</a:t>
            </a:r>
            <a:endParaRPr lang="pt-BR" sz="1700" dirty="0"/>
          </a:p>
        </p:txBody>
      </p:sp>
      <p:sp>
        <p:nvSpPr>
          <p:cNvPr id="5" name="Texto 5"/>
          <p:cNvSpPr txBox="1"/>
          <p:nvPr/>
        </p:nvSpPr>
        <p:spPr>
          <a:xfrm>
            <a:off x="731520" y="3580120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76B900"/>
                </a:solidFill>
              </a:rPr>
              <a:t>01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Tarefas de horas ou dias em segundo plano, com estado salvo e commits de segurança</a:t>
            </a:r>
            <a:endParaRPr lang="pt-BR" sz="1500" dirty="0"/>
          </a:p>
        </p:txBody>
      </p:sp>
      <p:sp>
        <p:nvSpPr>
          <p:cNvPr id="6" name="Forma 6"/>
          <p:cNvSpPr/>
          <p:nvPr/>
        </p:nvSpPr>
        <p:spPr>
          <a:xfrm>
            <a:off x="3316605" y="2299960"/>
            <a:ext cx="2927985" cy="1005840"/>
          </a:xfrm>
          <a:prstGeom prst="chevron">
            <a:avLst>
              <a:gd name="adj" fmla="val 35000"/>
            </a:avLst>
          </a:prstGeom>
          <a:solidFill>
            <a:srgbClr val="38BDF8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/agendar</a:t>
            </a:r>
            <a:endParaRPr lang="pt-BR" sz="1700" dirty="0"/>
          </a:p>
        </p:txBody>
      </p:sp>
      <p:sp>
        <p:nvSpPr>
          <p:cNvPr id="7" name="Texto 7"/>
          <p:cNvSpPr txBox="1"/>
          <p:nvPr/>
        </p:nvSpPr>
        <p:spPr>
          <a:xfrm>
            <a:off x="3714369" y="3580120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38BDF8"/>
                </a:solidFill>
              </a:rPr>
              <a:t>02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“Dias úteis às 8h: resuma os pull requests” — roda pelo agendador do sistema</a:t>
            </a:r>
            <a:endParaRPr lang="pt-BR" sz="1500" dirty="0"/>
          </a:p>
        </p:txBody>
      </p:sp>
      <p:sp>
        <p:nvSpPr>
          <p:cNvPr id="8" name="Forma 8"/>
          <p:cNvSpPr/>
          <p:nvPr/>
        </p:nvSpPr>
        <p:spPr>
          <a:xfrm>
            <a:off x="5947410" y="2299960"/>
            <a:ext cx="2927985" cy="1005840"/>
          </a:xfrm>
          <a:prstGeom prst="chevron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/skills</a:t>
            </a:r>
            <a:endParaRPr lang="pt-BR" sz="1700" dirty="0"/>
          </a:p>
        </p:txBody>
      </p:sp>
      <p:sp>
        <p:nvSpPr>
          <p:cNvPr id="9" name="Texto 9"/>
          <p:cNvSpPr txBox="1"/>
          <p:nvPr/>
        </p:nvSpPr>
        <p:spPr>
          <a:xfrm>
            <a:off x="6345174" y="3580120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F59E0B"/>
                </a:solidFill>
              </a:rPr>
              <a:t>03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Procedimentos da empresa ensinados em SKILL.md, no formato do Claude Code</a:t>
            </a:r>
            <a:endParaRPr lang="pt-BR" sz="1500" dirty="0"/>
          </a:p>
        </p:txBody>
      </p:sp>
      <p:sp>
        <p:nvSpPr>
          <p:cNvPr id="10" name="Forma 10"/>
          <p:cNvSpPr/>
          <p:nvPr/>
        </p:nvSpPr>
        <p:spPr>
          <a:xfrm>
            <a:off x="8578215" y="2299960"/>
            <a:ext cx="2927985" cy="1005840"/>
          </a:xfrm>
          <a:prstGeom prst="chevron">
            <a:avLst>
              <a:gd name="adj" fmla="val 35000"/>
            </a:avLst>
          </a:prstGeom>
          <a:solidFill>
            <a:srgbClr val="F472B6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/mcp</a:t>
            </a:r>
            <a:endParaRPr lang="pt-BR" sz="1700" dirty="0"/>
          </a:p>
        </p:txBody>
      </p:sp>
      <p:sp>
        <p:nvSpPr>
          <p:cNvPr id="11" name="Texto 11"/>
          <p:cNvSpPr txBox="1"/>
          <p:nvPr/>
        </p:nvSpPr>
        <p:spPr>
          <a:xfrm>
            <a:off x="8975979" y="3580120"/>
            <a:ext cx="2484501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F472B6"/>
                </a:solidFill>
              </a:rPr>
              <a:t>04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GitHub, Power BI, Jira, Slack, PostgreSQL e qualquer servidor MCP</a:t>
            </a:r>
            <a:endParaRPr lang="pt-BR" sz="1500" dirty="0"/>
          </a:p>
        </p:txBody>
      </p:sp>
      <p:sp>
        <p:nvSpPr>
          <p:cNvPr id="12" name="Forma 12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13" name="Forma 13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4" name="Texto 14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O agente trabalha enquanto você faz outra coisa — e aprende os processos da sua equipe.</a:t>
            </a:r>
            <a:endParaRPr lang="pt-BR" sz="1600" dirty="0"/>
          </a:p>
        </p:txBody>
      </p:sp>
      <p:sp>
        <p:nvSpPr>
          <p:cNvPr id="15" name="Texto 1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16" name="Texto 16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11 / 20</a:t>
            </a:r>
            <a:endParaRPr lang="pt-BR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1463040"/>
            <a:ext cx="10820400" cy="11887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7200" b="1" dirty="0">
                <a:solidFill>
                  <a:srgbClr val="111111"/>
                </a:solidFill>
              </a:rPr>
              <a:t>04</a:t>
            </a:r>
            <a:endParaRPr lang="pt-BR" sz="7200" dirty="0"/>
          </a:p>
        </p:txBody>
      </p:sp>
      <p:sp>
        <p:nvSpPr>
          <p:cNvPr id="3" name="Texto 3"/>
          <p:cNvSpPr txBox="1"/>
          <p:nvPr/>
        </p:nvSpPr>
        <p:spPr>
          <a:xfrm>
            <a:off x="685800" y="2743200"/>
            <a:ext cx="1082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111111"/>
                </a:solidFill>
              </a:rPr>
              <a:t>Modelos e custo</a:t>
            </a:r>
            <a:endParaRPr lang="pt-BR" sz="4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41148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111111"/>
                </a:solidFill>
              </a:rPr>
              <a:t>Modelos gratuitos da NVIDIA e mais 16 provedores</a:t>
            </a:r>
            <a:endParaRPr lang="pt-BR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17 provedores, do gratuito ao local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aphicFrame>
        <p:nvGraphicFramePr>
          <p:cNvPr id="4" name="Tabela 4"/>
          <p:cNvGraphicFramePr>
            <a:graphicFrameLocks noGrp="1"/>
          </p:cNvGraphicFramePr>
          <p:nvPr/>
        </p:nvGraphicFramePr>
        <p:xfrm>
          <a:off x="685800" y="1828800"/>
          <a:ext cx="10820400" cy="3428999"/>
        </p:xfrm>
        <a:graphic>
          <a:graphicData uri="http://schemas.openxmlformats.org/drawingml/2006/table">
            <a:tbl>
              <a:tblPr firstRow="1" bandRow="1"/>
              <a:tblGrid>
                <a:gridCol w="4688840"/>
                <a:gridCol w="1322493"/>
                <a:gridCol w="4809067"/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11111"/>
                          </a:solidFill>
                        </a:rPr>
                        <a:t>Provedor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11111"/>
                          </a:solidFill>
                        </a:rPr>
                        <a:t>Custo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11111"/>
                          </a:solidFill>
                        </a:rPr>
                        <a:t>Observação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76B90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5F7FA"/>
                          </a:solidFill>
                        </a:rPr>
                        <a:t>NVIDIA (padrão)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Grátis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Modelos testados: kimi-k3, nemotron-3-super/ultra, glm-5.3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5F7FA"/>
                          </a:solidFill>
                        </a:rPr>
                        <a:t>OpenRouter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Grátis/Pago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Vários modelos com uma chave; os :free são gratuitos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5F7FA"/>
                          </a:solidFill>
                        </a:rPr>
                        <a:t>Groq / Cerebras / SambaNova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Grátis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Camadas gratuitas, muito rápidas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5F7FA"/>
                          </a:solidFill>
                        </a:rPr>
                        <a:t>Gemini / GitHub / HuggingFace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Grátis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Camadas gratuitas com limites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5F7FA"/>
                          </a:solidFill>
                        </a:rPr>
                        <a:t>OpenAI / Anthropic / DeepSeek / Mistral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Pago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Para quem já tem chave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0F1115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5F7FA"/>
                          </a:solidFill>
                        </a:rPr>
                        <a:t>Ollama / LM Studio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Grátis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F5F7FA"/>
                          </a:solidFill>
                        </a:rPr>
                        <a:t>Modelos locais, detectados automaticamente</a:t>
                      </a:r>
                      <a:endParaRPr lang="pt-BR" sz="1400" dirty="0"/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9AA3AF"/>
                      </a:solidFill>
                    </a:lnB>
                    <a:solidFill>
                      <a:srgbClr val="1B1F27"/>
                    </a:solidFill>
                  </a:tcPr>
                </a:tc>
              </a:tr>
            </a:tbl>
          </a:graphicData>
        </a:graphic>
      </p:graphicFrame>
      <p:sp>
        <p:nvSpPr>
          <p:cNvPr id="5" name="Forma 5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6" name="Forma 6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7" name="Texto 7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Comece de graça com a NVIDIA; troque de modelo com /model quando quiser.</a:t>
            </a:r>
            <a:endParaRPr lang="pt-BR" sz="1600" dirty="0"/>
          </a:p>
        </p:txBody>
      </p:sp>
      <p:sp>
        <p:nvSpPr>
          <p:cNvPr id="8" name="Texto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9" name="Texto 9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13 / 20</a:t>
            </a:r>
            <a:endParaRPr lang="pt-BR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1463040"/>
            <a:ext cx="10820400" cy="11887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7200" b="1" dirty="0">
                <a:solidFill>
                  <a:srgbClr val="111111"/>
                </a:solidFill>
              </a:rPr>
              <a:t>05</a:t>
            </a:r>
            <a:endParaRPr lang="pt-BR" sz="7200" dirty="0"/>
          </a:p>
        </p:txBody>
      </p:sp>
      <p:sp>
        <p:nvSpPr>
          <p:cNvPr id="3" name="Texto 3"/>
          <p:cNvSpPr txBox="1"/>
          <p:nvPr/>
        </p:nvSpPr>
        <p:spPr>
          <a:xfrm>
            <a:off x="685800" y="2743200"/>
            <a:ext cx="1082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111111"/>
                </a:solidFill>
              </a:rPr>
              <a:t>Segurança</a:t>
            </a:r>
            <a:endParaRPr lang="pt-BR" sz="4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41148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111111"/>
                </a:solidFill>
              </a:rPr>
              <a:t>Aprovação, regras e privacidade</a:t>
            </a:r>
            <a:endParaRPr lang="pt-BR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Segurança em camadas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68580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5" name="Forma 5"/>
          <p:cNvSpPr/>
          <p:nvPr/>
        </p:nvSpPr>
        <p:spPr>
          <a:xfrm>
            <a:off x="685800" y="2537460"/>
            <a:ext cx="64008" cy="50292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6" name="Forma 6"/>
          <p:cNvSpPr/>
          <p:nvPr/>
        </p:nvSpPr>
        <p:spPr>
          <a:xfrm>
            <a:off x="960120" y="2537460"/>
            <a:ext cx="502920" cy="50292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✋</a:t>
            </a:r>
            <a:endParaRPr lang="pt-BR" sz="1800" dirty="0"/>
          </a:p>
        </p:txBody>
      </p:sp>
      <p:sp>
        <p:nvSpPr>
          <p:cNvPr id="7" name="Texto 7"/>
          <p:cNvSpPr txBox="1"/>
          <p:nvPr/>
        </p:nvSpPr>
        <p:spPr>
          <a:xfrm>
            <a:off x="96012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Aprovação por padrão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Edições, comandos, commits e ações no PC exibem pedido de aprovação</a:t>
            </a:r>
            <a:endParaRPr lang="pt-BR" sz="1500" dirty="0"/>
          </a:p>
        </p:txBody>
      </p:sp>
      <p:sp>
        <p:nvSpPr>
          <p:cNvPr id="8" name="Forma 8"/>
          <p:cNvSpPr/>
          <p:nvPr/>
        </p:nvSpPr>
        <p:spPr>
          <a:xfrm>
            <a:off x="344805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9" name="Forma 9"/>
          <p:cNvSpPr/>
          <p:nvPr/>
        </p:nvSpPr>
        <p:spPr>
          <a:xfrm>
            <a:off x="3448050" y="2537460"/>
            <a:ext cx="64008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0" name="Forma 10"/>
          <p:cNvSpPr/>
          <p:nvPr/>
        </p:nvSpPr>
        <p:spPr>
          <a:xfrm>
            <a:off x="3722370" y="25374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📜</a:t>
            </a:r>
            <a:endParaRPr lang="pt-BR" sz="1800" dirty="0"/>
          </a:p>
        </p:txBody>
      </p:sp>
      <p:sp>
        <p:nvSpPr>
          <p:cNvPr id="11" name="Texto 11"/>
          <p:cNvSpPr txBox="1"/>
          <p:nvPr/>
        </p:nvSpPr>
        <p:spPr>
          <a:xfrm>
            <a:off x="372237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Regras granulares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Regras allow/deny em settings.json; deny sempre vence, mesmo no modo Auto</a:t>
            </a:r>
            <a:endParaRPr lang="pt-BR" sz="1500" dirty="0"/>
          </a:p>
        </p:txBody>
      </p:sp>
      <p:sp>
        <p:nvSpPr>
          <p:cNvPr id="12" name="Forma 12"/>
          <p:cNvSpPr/>
          <p:nvPr/>
        </p:nvSpPr>
        <p:spPr>
          <a:xfrm>
            <a:off x="621030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13" name="Forma 13"/>
          <p:cNvSpPr/>
          <p:nvPr/>
        </p:nvSpPr>
        <p:spPr>
          <a:xfrm>
            <a:off x="6210300" y="2537460"/>
            <a:ext cx="6400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Forma 14"/>
          <p:cNvSpPr/>
          <p:nvPr/>
        </p:nvSpPr>
        <p:spPr>
          <a:xfrm>
            <a:off x="6484620" y="25374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🔒</a:t>
            </a:r>
            <a:endParaRPr lang="pt-BR" sz="1800" dirty="0"/>
          </a:p>
        </p:txBody>
      </p:sp>
      <p:sp>
        <p:nvSpPr>
          <p:cNvPr id="15" name="Texto 15"/>
          <p:cNvSpPr txBox="1"/>
          <p:nvPr/>
        </p:nvSpPr>
        <p:spPr>
          <a:xfrm>
            <a:off x="648462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Privacidade da tela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Tela lida por OCR local; nenhuma imagem da tela sai do computador</a:t>
            </a:r>
            <a:endParaRPr lang="pt-BR" sz="1500" dirty="0"/>
          </a:p>
        </p:txBody>
      </p:sp>
      <p:sp>
        <p:nvSpPr>
          <p:cNvPr id="16" name="Forma 16"/>
          <p:cNvSpPr/>
          <p:nvPr/>
        </p:nvSpPr>
        <p:spPr>
          <a:xfrm>
            <a:off x="8972550" y="2308860"/>
            <a:ext cx="2533650" cy="24688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</p:spPr>
      </p:sp>
      <p:sp>
        <p:nvSpPr>
          <p:cNvPr id="17" name="Forma 17"/>
          <p:cNvSpPr/>
          <p:nvPr/>
        </p:nvSpPr>
        <p:spPr>
          <a:xfrm>
            <a:off x="8972550" y="2537460"/>
            <a:ext cx="64008" cy="502920"/>
          </a:xfrm>
          <a:prstGeom prst="rect">
            <a:avLst/>
          </a:prstGeom>
          <a:solidFill>
            <a:srgbClr val="F472B6"/>
          </a:solidFill>
          <a:ln>
            <a:noFill/>
          </a:ln>
        </p:spPr>
      </p:sp>
      <p:sp>
        <p:nvSpPr>
          <p:cNvPr id="18" name="Forma 18"/>
          <p:cNvSpPr/>
          <p:nvPr/>
        </p:nvSpPr>
        <p:spPr>
          <a:xfrm>
            <a:off x="9246870" y="2537460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111111"/>
                </a:solidFill>
              </a:rPr>
              <a:t>🔑</a:t>
            </a:r>
            <a:endParaRPr lang="pt-BR" sz="1800" dirty="0"/>
          </a:p>
        </p:txBody>
      </p:sp>
      <p:sp>
        <p:nvSpPr>
          <p:cNvPr id="19" name="Texto 19"/>
          <p:cNvSpPr txBox="1"/>
          <p:nvPr/>
        </p:nvSpPr>
        <p:spPr>
          <a:xfrm>
            <a:off x="9246870" y="3223260"/>
            <a:ext cx="203073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900" b="1" dirty="0">
                <a:solidFill>
                  <a:srgbClr val="F5F7FA"/>
                </a:solidFill>
              </a:rPr>
              <a:t>Segredos protegidos</a:t>
            </a:r>
            <a:endParaRPr lang="pt-BR" sz="1900" dirty="0"/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pt-BR" sz="1500" dirty="0">
                <a:solidFill>
                  <a:srgbClr val="9AA3AF"/>
                </a:solidFill>
              </a:rPr>
              <a:t>API key no armazenamento seguro do VS Code; tokens de API por referência</a:t>
            </a:r>
            <a:endParaRPr lang="pt-BR" sz="1500" dirty="0"/>
          </a:p>
        </p:txBody>
      </p:sp>
      <p:sp>
        <p:nvSpPr>
          <p:cNvPr id="20" name="Forma 20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21" name="Forma 21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22" name="Texto 22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Envios, pagamentos e exclusões em sites sempre exigem confirmação — mesmo no modo Auto.</a:t>
            </a:r>
            <a:endParaRPr lang="pt-BR" sz="1600" dirty="0"/>
          </a:p>
        </p:txBody>
      </p:sp>
      <p:sp>
        <p:nvSpPr>
          <p:cNvPr id="23" name="Texto 2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24" name="Texto 24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15 / 20</a:t>
            </a:r>
            <a:endParaRPr lang="pt-BR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1463040"/>
            <a:ext cx="10820400" cy="11887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7200" b="1" dirty="0">
                <a:solidFill>
                  <a:srgbClr val="111111"/>
                </a:solidFill>
              </a:rPr>
              <a:t>06</a:t>
            </a:r>
            <a:endParaRPr lang="pt-BR" sz="7200" dirty="0"/>
          </a:p>
        </p:txBody>
      </p:sp>
      <p:sp>
        <p:nvSpPr>
          <p:cNvPr id="3" name="Texto 3"/>
          <p:cNvSpPr txBox="1"/>
          <p:nvPr/>
        </p:nvSpPr>
        <p:spPr>
          <a:xfrm>
            <a:off x="685800" y="2743200"/>
            <a:ext cx="1082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111111"/>
                </a:solidFill>
              </a:rPr>
              <a:t>Auto-melhoria</a:t>
            </a:r>
            <a:endParaRPr lang="pt-BR" sz="4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41148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111111"/>
                </a:solidFill>
              </a:rPr>
              <a:t>O projeto que melhora a si mesmo</a:t>
            </a:r>
            <a:endParaRPr lang="pt-BR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O loop de auto-melhoria (SDD)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685800" y="2256874"/>
            <a:ext cx="2401824" cy="1005840"/>
          </a:xfrm>
          <a:prstGeom prst="homePlate">
            <a:avLst>
              <a:gd name="adj" fmla="val 35000"/>
            </a:avLst>
          </a:prstGeom>
          <a:solidFill>
            <a:srgbClr val="76B900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Escolher</a:t>
            </a:r>
            <a:endParaRPr lang="pt-BR" sz="1700" dirty="0"/>
          </a:p>
        </p:txBody>
      </p:sp>
      <p:sp>
        <p:nvSpPr>
          <p:cNvPr id="5" name="Texto 5"/>
          <p:cNvSpPr txBox="1"/>
          <p:nvPr/>
        </p:nvSpPr>
        <p:spPr>
          <a:xfrm>
            <a:off x="731520" y="3537034"/>
            <a:ext cx="1958340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76B900"/>
                </a:solidFill>
              </a:rPr>
              <a:t>01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O loop lê o backlog do SDD e escolhe a próxima tarefa</a:t>
            </a:r>
            <a:endParaRPr lang="pt-BR" sz="1500" dirty="0"/>
          </a:p>
        </p:txBody>
      </p:sp>
      <p:sp>
        <p:nvSpPr>
          <p:cNvPr id="6" name="Forma 6"/>
          <p:cNvSpPr/>
          <p:nvPr/>
        </p:nvSpPr>
        <p:spPr>
          <a:xfrm>
            <a:off x="2790444" y="2256874"/>
            <a:ext cx="2401824" cy="1005840"/>
          </a:xfrm>
          <a:prstGeom prst="chevron">
            <a:avLst>
              <a:gd name="adj" fmla="val 35000"/>
            </a:avLst>
          </a:prstGeom>
          <a:solidFill>
            <a:srgbClr val="38BDF8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Implementar</a:t>
            </a:r>
            <a:endParaRPr lang="pt-BR" sz="1700" dirty="0"/>
          </a:p>
        </p:txBody>
      </p:sp>
      <p:sp>
        <p:nvSpPr>
          <p:cNvPr id="7" name="Texto 7"/>
          <p:cNvSpPr txBox="1"/>
          <p:nvPr/>
        </p:nvSpPr>
        <p:spPr>
          <a:xfrm>
            <a:off x="3188208" y="3537034"/>
            <a:ext cx="1958340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38BDF8"/>
                </a:solidFill>
              </a:rPr>
              <a:t>02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Trabalha numa git worktree separada, com plano e transparência obrigatórios</a:t>
            </a:r>
            <a:endParaRPr lang="pt-BR" sz="1500" dirty="0"/>
          </a:p>
        </p:txBody>
      </p:sp>
      <p:sp>
        <p:nvSpPr>
          <p:cNvPr id="8" name="Forma 8"/>
          <p:cNvSpPr/>
          <p:nvPr/>
        </p:nvSpPr>
        <p:spPr>
          <a:xfrm>
            <a:off x="4895088" y="2256874"/>
            <a:ext cx="2401824" cy="1005840"/>
          </a:xfrm>
          <a:prstGeom prst="chevron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Validar</a:t>
            </a:r>
            <a:endParaRPr lang="pt-BR" sz="1700" dirty="0"/>
          </a:p>
        </p:txBody>
      </p:sp>
      <p:sp>
        <p:nvSpPr>
          <p:cNvPr id="9" name="Texto 9"/>
          <p:cNvSpPr txBox="1"/>
          <p:nvPr/>
        </p:nvSpPr>
        <p:spPr>
          <a:xfrm>
            <a:off x="5292852" y="3537034"/>
            <a:ext cx="1958340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F59E0B"/>
                </a:solidFill>
              </a:rPr>
              <a:t>03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npm test precisa passar, sem diminuir testes nem tocar arquivos protegidos</a:t>
            </a:r>
            <a:endParaRPr lang="pt-BR" sz="1500" dirty="0"/>
          </a:p>
        </p:txBody>
      </p:sp>
      <p:sp>
        <p:nvSpPr>
          <p:cNvPr id="10" name="Forma 10"/>
          <p:cNvSpPr/>
          <p:nvPr/>
        </p:nvSpPr>
        <p:spPr>
          <a:xfrm>
            <a:off x="6999732" y="2256874"/>
            <a:ext cx="2401824" cy="1005840"/>
          </a:xfrm>
          <a:prstGeom prst="chevron">
            <a:avLst>
              <a:gd name="adj" fmla="val 35000"/>
            </a:avLst>
          </a:prstGeom>
          <a:solidFill>
            <a:srgbClr val="F472B6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Veredito</a:t>
            </a:r>
            <a:endParaRPr lang="pt-BR" sz="1700" dirty="0"/>
          </a:p>
        </p:txBody>
      </p:sp>
      <p:sp>
        <p:nvSpPr>
          <p:cNvPr id="11" name="Texto 11"/>
          <p:cNvSpPr txBox="1"/>
          <p:nvPr/>
        </p:nvSpPr>
        <p:spPr>
          <a:xfrm>
            <a:off x="7397496" y="3537034"/>
            <a:ext cx="1958340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F472B6"/>
                </a:solidFill>
              </a:rPr>
              <a:t>04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Passou → commit na branch; falhou → até 2 rodadas de reparo</a:t>
            </a:r>
            <a:endParaRPr lang="pt-BR" sz="1500" dirty="0"/>
          </a:p>
        </p:txBody>
      </p:sp>
      <p:sp>
        <p:nvSpPr>
          <p:cNvPr id="12" name="Forma 12"/>
          <p:cNvSpPr/>
          <p:nvPr/>
        </p:nvSpPr>
        <p:spPr>
          <a:xfrm>
            <a:off x="9104376" y="2256874"/>
            <a:ext cx="2401824" cy="1005840"/>
          </a:xfrm>
          <a:prstGeom prst="chevron">
            <a:avLst>
              <a:gd name="adj" fmla="val 35000"/>
            </a:avLst>
          </a:prstGeom>
          <a:solidFill>
            <a:srgbClr val="A78BFA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111111"/>
                </a:solidFill>
              </a:rPr>
              <a:t>Revisão humana</a:t>
            </a:r>
            <a:endParaRPr lang="pt-BR" sz="1700" dirty="0"/>
          </a:p>
        </p:txBody>
      </p:sp>
      <p:sp>
        <p:nvSpPr>
          <p:cNvPr id="13" name="Texto 13"/>
          <p:cNvSpPr txBox="1"/>
          <p:nvPr/>
        </p:nvSpPr>
        <p:spPr>
          <a:xfrm>
            <a:off x="9502140" y="3537034"/>
            <a:ext cx="1958340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200" b="1" dirty="0">
                <a:solidFill>
                  <a:srgbClr val="A78BFA"/>
                </a:solidFill>
              </a:rPr>
              <a:t>05</a:t>
            </a:r>
            <a:endParaRPr lang="pt-BR" sz="1200" dirty="0"/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F5F7FA"/>
                </a:solidFill>
              </a:rPr>
              <a:t>O administrador revisa os diffs no painel e aceita o merge</a:t>
            </a:r>
            <a:endParaRPr lang="pt-BR" sz="1500" dirty="0"/>
          </a:p>
        </p:txBody>
      </p:sp>
      <p:sp>
        <p:nvSpPr>
          <p:cNvPr id="14" name="Forma 14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15" name="Forma 15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6" name="Texto 16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Nunca faz push nem merge sozinho: a decisão final é sempre do administrador.</a:t>
            </a:r>
            <a:endParaRPr lang="pt-BR" sz="1600" dirty="0"/>
          </a:p>
        </p:txBody>
      </p:sp>
      <p:sp>
        <p:nvSpPr>
          <p:cNvPr id="17" name="Texto 17"/>
          <p:cNvSpPr txBox="1"/>
          <p:nvPr/>
        </p:nvSpPr>
        <p:spPr>
          <a:xfrm>
            <a:off x="685800" y="6108192"/>
            <a:ext cx="9174480" cy="256032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000" dirty="0">
                <a:solidFill>
                  <a:srgbClr val="9AA3AF"/>
                </a:solidFill>
              </a:rPr>
              <a:t>Fonte: docs/SDD.md — seção 6</a:t>
            </a:r>
            <a:endParaRPr lang="pt-BR" sz="1000" dirty="0"/>
          </a:p>
        </p:txBody>
      </p:sp>
      <p:sp>
        <p:nvSpPr>
          <p:cNvPr id="18" name="Texto 18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17 / 20</a:t>
            </a:r>
            <a:endParaRPr lang="pt-BR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1463040"/>
            <a:ext cx="10820400" cy="11887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7200" b="1" dirty="0">
                <a:solidFill>
                  <a:srgbClr val="111111"/>
                </a:solidFill>
              </a:rPr>
              <a:t>07</a:t>
            </a:r>
            <a:endParaRPr lang="pt-BR" sz="7200" dirty="0"/>
          </a:p>
        </p:txBody>
      </p:sp>
      <p:sp>
        <p:nvSpPr>
          <p:cNvPr id="3" name="Texto 3"/>
          <p:cNvSpPr txBox="1"/>
          <p:nvPr/>
        </p:nvSpPr>
        <p:spPr>
          <a:xfrm>
            <a:off x="685800" y="2743200"/>
            <a:ext cx="1082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4400" b="1" dirty="0">
                <a:solidFill>
                  <a:srgbClr val="111111"/>
                </a:solidFill>
              </a:rPr>
              <a:t>Roadmap</a:t>
            </a:r>
            <a:endParaRPr lang="pt-BR" sz="4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41148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111111"/>
                </a:solidFill>
              </a:rPr>
              <a:t>Backlog e paridade com Claude Code</a:t>
            </a:r>
            <a:endParaRPr lang="pt-BR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85800" y="411480"/>
            <a:ext cx="10820400" cy="9601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3600" b="1" dirty="0">
                <a:solidFill>
                  <a:srgbClr val="F5F7FA"/>
                </a:solidFill>
              </a:rPr>
              <a:t>Para onde vamos</a:t>
            </a:r>
            <a:endParaRPr lang="pt-BR" sz="3600" dirty="0"/>
          </a:p>
        </p:txBody>
      </p:sp>
      <p:sp>
        <p:nvSpPr>
          <p:cNvPr id="3" name="Forma 3"/>
          <p:cNvSpPr/>
          <p:nvPr/>
        </p:nvSpPr>
        <p:spPr>
          <a:xfrm>
            <a:off x="685800" y="1481328"/>
            <a:ext cx="8229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" name="Forma 4"/>
          <p:cNvSpPr/>
          <p:nvPr/>
        </p:nvSpPr>
        <p:spPr>
          <a:xfrm>
            <a:off x="3547110" y="1828800"/>
            <a:ext cx="2786634" cy="1449324"/>
          </a:xfrm>
          <a:prstGeom prst="rect">
            <a:avLst/>
          </a:prstGeom>
          <a:solidFill>
            <a:srgbClr val="1B1F27"/>
          </a:solidFill>
          <a:ln>
            <a:noFill/>
          </a:ln>
        </p:spPr>
      </p:sp>
      <p:sp>
        <p:nvSpPr>
          <p:cNvPr id="5" name="Texto 5"/>
          <p:cNvSpPr txBox="1"/>
          <p:nvPr/>
        </p:nvSpPr>
        <p:spPr>
          <a:xfrm>
            <a:off x="3729990" y="1965960"/>
            <a:ext cx="2420874" cy="11750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F5F7FA"/>
                </a:solidFill>
              </a:rPr>
              <a:t>Próximos (curto prazo)</a:t>
            </a:r>
            <a:endParaRPr lang="pt-BR" sz="17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T20 comandos em background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T28 fila de mensagens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T25 perguntar ao usuário</a:t>
            </a:r>
            <a:endParaRPr lang="pt-BR" sz="1300" dirty="0"/>
          </a:p>
        </p:txBody>
      </p:sp>
      <p:sp>
        <p:nvSpPr>
          <p:cNvPr id="6" name="Forma 6"/>
          <p:cNvSpPr/>
          <p:nvPr/>
        </p:nvSpPr>
        <p:spPr>
          <a:xfrm>
            <a:off x="6406896" y="1828800"/>
            <a:ext cx="2786634" cy="1449324"/>
          </a:xfrm>
          <a:prstGeom prst="rect">
            <a:avLst/>
          </a:prstGeom>
          <a:solidFill>
            <a:srgbClr val="1B1F27"/>
          </a:solidFill>
          <a:ln>
            <a:noFill/>
          </a:ln>
        </p:spPr>
      </p:sp>
      <p:sp>
        <p:nvSpPr>
          <p:cNvPr id="7" name="Texto 7"/>
          <p:cNvSpPr txBox="1"/>
          <p:nvPr/>
        </p:nvSpPr>
        <p:spPr>
          <a:xfrm>
            <a:off x="6589776" y="1965960"/>
            <a:ext cx="2420874" cy="11750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F5F7FA"/>
                </a:solidFill>
              </a:rPr>
              <a:t>Médio prazo</a:t>
            </a:r>
            <a:endParaRPr lang="pt-BR" sz="17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T24 subagentes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T29 diagnósticos VS Code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T26 /review aprimorado</a:t>
            </a:r>
            <a:endParaRPr lang="pt-BR" sz="1300" dirty="0"/>
          </a:p>
        </p:txBody>
      </p:sp>
      <p:sp>
        <p:nvSpPr>
          <p:cNvPr id="8" name="Forma 8"/>
          <p:cNvSpPr/>
          <p:nvPr/>
        </p:nvSpPr>
        <p:spPr>
          <a:xfrm>
            <a:off x="3547110" y="3351276"/>
            <a:ext cx="2786634" cy="1449324"/>
          </a:xfrm>
          <a:prstGeom prst="rect">
            <a:avLst/>
          </a:prstGeom>
          <a:solidFill>
            <a:srgbClr val="1B1F27"/>
          </a:solidFill>
          <a:ln>
            <a:noFill/>
          </a:ln>
        </p:spPr>
      </p:sp>
      <p:sp>
        <p:nvSpPr>
          <p:cNvPr id="9" name="Texto 9"/>
          <p:cNvSpPr txBox="1"/>
          <p:nvPr/>
        </p:nvSpPr>
        <p:spPr>
          <a:xfrm>
            <a:off x="3729990" y="3488436"/>
            <a:ext cx="2420874" cy="11750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F5F7FA"/>
                </a:solidFill>
              </a:rPr>
              <a:t>Fundamentos</a:t>
            </a:r>
            <a:endParaRPr lang="pt-BR" sz="17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T21 memória em camadas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T22 hooks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T23 comandos personalizados</a:t>
            </a:r>
            <a:endParaRPr lang="pt-BR" sz="1300" dirty="0"/>
          </a:p>
        </p:txBody>
      </p:sp>
      <p:sp>
        <p:nvSpPr>
          <p:cNvPr id="10" name="Forma 10"/>
          <p:cNvSpPr/>
          <p:nvPr/>
        </p:nvSpPr>
        <p:spPr>
          <a:xfrm>
            <a:off x="6406896" y="3351276"/>
            <a:ext cx="2786634" cy="1449324"/>
          </a:xfrm>
          <a:prstGeom prst="rect">
            <a:avLst/>
          </a:prstGeom>
          <a:solidFill>
            <a:srgbClr val="1B1F27"/>
          </a:solidFill>
          <a:ln>
            <a:noFill/>
          </a:ln>
        </p:spPr>
      </p:sp>
      <p:sp>
        <p:nvSpPr>
          <p:cNvPr id="11" name="Texto 11"/>
          <p:cNvSpPr txBox="1"/>
          <p:nvPr/>
        </p:nvSpPr>
        <p:spPr>
          <a:xfrm>
            <a:off x="6589776" y="3488436"/>
            <a:ext cx="2420874" cy="11750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700" b="1" dirty="0">
                <a:solidFill>
                  <a:srgbClr val="F5F7FA"/>
                </a:solidFill>
              </a:rPr>
              <a:t>Longo prazo</a:t>
            </a:r>
            <a:endParaRPr lang="pt-BR" sz="17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T30 MCP avançado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Plugins/marketplace</a:t>
            </a:r>
            <a:endParaRPr lang="pt-BR" sz="1300" dirty="0"/>
          </a:p>
          <a:p>
            <a:pPr algn="l" marL="292608" indent="-292608">
              <a:lnSpc>
                <a:spcPct val="105000"/>
              </a:lnSpc>
              <a:spcBef>
                <a:spcPts val="400"/>
              </a:spcBef>
              <a:buClr>
                <a:srgbClr val="76B900"/>
              </a:buClr>
              <a:buFont typeface="Arial"/>
              <a:buChar char="•"/>
            </a:pPr>
            <a:r>
              <a:rPr lang="pt-BR" sz="1300" dirty="0">
                <a:solidFill>
                  <a:srgbClr val="F5F7FA"/>
                </a:solidFill>
              </a:rPr>
              <a:t>App mobile</a:t>
            </a:r>
            <a:endParaRPr lang="pt-BR" sz="1300" dirty="0"/>
          </a:p>
        </p:txBody>
      </p:sp>
      <p:cxnSp>
        <p:nvCxnSpPr>
          <p:cNvPr id="12" name="Linha 12"/>
          <p:cNvCxnSpPr/>
          <p:nvPr/>
        </p:nvCxnSpPr>
        <p:spPr>
          <a:xfrm flipV="1">
            <a:off x="3364230" y="1828800"/>
            <a:ext cx="0" cy="2971800"/>
          </a:xfrm>
          <a:prstGeom prst="line">
            <a:avLst/>
          </a:prstGeom>
          <a:ln w="15875">
            <a:solidFill>
              <a:srgbClr val="F5F7FA"/>
            </a:solidFill>
            <a:tailEnd type="triangle" w="med" len="med"/>
          </a:ln>
        </p:spPr>
      </p:cxnSp>
      <p:cxnSp>
        <p:nvCxnSpPr>
          <p:cNvPr id="13" name="Linha 13"/>
          <p:cNvCxnSpPr/>
          <p:nvPr/>
        </p:nvCxnSpPr>
        <p:spPr>
          <a:xfrm>
            <a:off x="3547110" y="4983480"/>
            <a:ext cx="5646420" cy="0"/>
          </a:xfrm>
          <a:prstGeom prst="line">
            <a:avLst/>
          </a:prstGeom>
          <a:ln w="15875">
            <a:solidFill>
              <a:srgbClr val="F5F7FA"/>
            </a:solidFill>
            <a:tailEnd type="triangle" w="med" len="med"/>
          </a:ln>
        </p:spPr>
      </p:cxnSp>
      <p:sp>
        <p:nvSpPr>
          <p:cNvPr id="14" name="Forma 14"/>
          <p:cNvSpPr/>
          <p:nvPr/>
        </p:nvSpPr>
        <p:spPr>
          <a:xfrm rot="16200000">
            <a:off x="1649730" y="315010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b="1" dirty="0">
                <a:solidFill>
                  <a:srgbClr val="9AA3AF"/>
                </a:solidFill>
              </a:rPr>
              <a:t>Impacto →</a:t>
            </a:r>
            <a:endParaRPr lang="pt-BR" sz="1300" dirty="0"/>
          </a:p>
        </p:txBody>
      </p:sp>
      <p:sp>
        <p:nvSpPr>
          <p:cNvPr id="15" name="Texto 15"/>
          <p:cNvSpPr txBox="1"/>
          <p:nvPr/>
        </p:nvSpPr>
        <p:spPr>
          <a:xfrm>
            <a:off x="3547110" y="5029200"/>
            <a:ext cx="56464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300" b="1" dirty="0">
                <a:solidFill>
                  <a:srgbClr val="9AA3AF"/>
                </a:solidFill>
              </a:rPr>
              <a:t>Esforço →</a:t>
            </a:r>
            <a:endParaRPr lang="pt-BR" sz="1300" dirty="0"/>
          </a:p>
        </p:txBody>
      </p:sp>
      <p:sp>
        <p:nvSpPr>
          <p:cNvPr id="16" name="Forma 16"/>
          <p:cNvSpPr/>
          <p:nvPr/>
        </p:nvSpPr>
        <p:spPr>
          <a:xfrm>
            <a:off x="685800" y="5440680"/>
            <a:ext cx="10820400" cy="548640"/>
          </a:xfrm>
          <a:prstGeom prst="rect">
            <a:avLst/>
          </a:prstGeom>
          <a:solidFill>
            <a:srgbClr val="1E2A12"/>
          </a:solidFill>
          <a:ln>
            <a:noFill/>
          </a:ln>
        </p:spPr>
      </p:sp>
      <p:sp>
        <p:nvSpPr>
          <p:cNvPr id="17" name="Forma 17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8" name="Texto 18"/>
          <p:cNvSpPr txBox="1"/>
          <p:nvPr/>
        </p:nvSpPr>
        <p:spPr>
          <a:xfrm>
            <a:off x="960120" y="5440680"/>
            <a:ext cx="1036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5F7FA"/>
                </a:solidFill>
              </a:rPr>
              <a:t>Meta declarada no SDD: paridade de capacidades com o Claude Code, mantendo custo zero.</a:t>
            </a:r>
            <a:endParaRPr lang="pt-BR" sz="1600" dirty="0"/>
          </a:p>
        </p:txBody>
      </p:sp>
      <p:sp>
        <p:nvSpPr>
          <p:cNvPr id="19" name="Texto 19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rfcode — agente de IA open source</a:t>
            </a:r>
            <a:endParaRPr lang="pt-BR" sz="1100" dirty="0"/>
          </a:p>
        </p:txBody>
      </p:sp>
      <p:sp>
        <p:nvSpPr>
          <p:cNvPr id="20" name="Texto 20"/>
          <p:cNvSpPr txBox="1"/>
          <p:nvPr/>
        </p:nvSpPr>
        <p:spPr>
          <a:xfrm>
            <a:off x="1013460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100" dirty="0">
                <a:solidFill>
                  <a:srgbClr val="9AA3AF"/>
                </a:solidFill>
              </a:rPr>
              <a:t>19 / 20</a:t>
            </a:r>
            <a:endParaRPr lang="pt-BR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3" name="Texto 3"/>
          <p:cNvSpPr txBox="1"/>
          <p:nvPr/>
        </p:nvSpPr>
        <p:spPr>
          <a:xfrm>
            <a:off x="685800" y="1463040"/>
            <a:ext cx="10820400" cy="18288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pt-BR" sz="5400" b="1" dirty="0">
                <a:solidFill>
                  <a:srgbClr val="F5F7FA"/>
                </a:solidFill>
              </a:rPr>
              <a:t>Instale em 1 minuto e comece de graça</a:t>
            </a:r>
            <a:endParaRPr lang="pt-BR" sz="5400" dirty="0"/>
          </a:p>
        </p:txBody>
      </p:sp>
      <p:sp>
        <p:nvSpPr>
          <p:cNvPr id="4" name="Texto 4"/>
          <p:cNvSpPr txBox="1"/>
          <p:nvPr/>
        </p:nvSpPr>
        <p:spPr>
          <a:xfrm>
            <a:off x="685800" y="3429000"/>
            <a:ext cx="10820400" cy="10972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2200" dirty="0">
                <a:solidFill>
                  <a:srgbClr val="9AA3AF"/>
                </a:solidFill>
              </a:rPr>
              <a:t>Procure por “rfcode” na aba de extensões do VS Code — github.com/devrenanferrari/rfcode — Licença MIT</a:t>
            </a:r>
            <a:endParaRPr lang="pt-BR" sz="2200" dirty="0"/>
          </a:p>
        </p:txBody>
      </p:sp>
      <p:sp>
        <p:nvSpPr>
          <p:cNvPr id="5" name="Texto 5"/>
          <p:cNvSpPr txBox="1"/>
          <p:nvPr/>
        </p:nvSpPr>
        <p:spPr>
          <a:xfrm>
            <a:off x="685800" y="5715000"/>
            <a:ext cx="1082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pt-BR" sz="1400" dirty="0">
                <a:solidFill>
                  <a:srgbClr val="9AA3AF"/>
                </a:solidFill>
              </a:rPr>
              <a:t>rfcode  ·  Outubro de 2026</a:t>
            </a:r>
            <a:endParaRPr lang="pt-B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fcode">
  <a:themeElements>
    <a:clrScheme name="rfcode">
      <a:dk1>
        <a:srgbClr val="000000"/>
      </a:dk1>
      <a:lt1>
        <a:srgbClr val="FFFFFF"/>
      </a:lt1>
      <a:dk2>
        <a:srgbClr val="F5F7FA"/>
      </a:dk2>
      <a:lt2>
        <a:srgbClr val="0F1115"/>
      </a:lt2>
      <a:accent1>
        <a:srgbClr val="76B900"/>
      </a:accent1>
      <a:accent2>
        <a:srgbClr val="2563EB"/>
      </a:accent2>
      <a:accent3>
        <a:srgbClr val="F59E0B"/>
      </a:accent3>
      <a:accent4>
        <a:srgbClr val="EF4444"/>
      </a:accent4>
      <a:accent5>
        <a:srgbClr val="8B5CF6"/>
      </a:accent5>
      <a:accent6>
        <a:srgbClr val="14B8A6"/>
      </a:accent6>
      <a:hlink>
        <a:srgbClr val="2563EB"/>
      </a:hlink>
      <a:folHlink>
        <a:srgbClr val="7C3AED"/>
      </a:folHlink>
    </a:clrScheme>
    <a:fontScheme name="rfcod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rfco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rfcode</Application>
  <Slides>20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rfcode — Apresentação do projeto</dc:title>
  <dc:creator>rfcode</dc:creator>
  <dcterms:created xsi:type="dcterms:W3CDTF">2026-10-12T19:16:19Z</dcterms:created>
  <dcterms:modified xsi:type="dcterms:W3CDTF">2026-10-12T19:16:19Z</dcterms:modified>
</cp:coreProperties>
</file>